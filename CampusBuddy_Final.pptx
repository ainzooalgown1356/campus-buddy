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1" r:id="rId22"/>
    <p:sldId id="272" r:id="rId23"/>
    <p:sldId id="273" r:id="rId24"/>
    <p:sldId id="274" r:id="rId25"/>
    <p:sldId id="275" r:id="rId26"/>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954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6" Type="http://schemas.openxmlformats.org/officeDocument/2006/relationships/image" Target="../media/image7.png"/></Relationships>
</file>

<file path=ppt/slides/_rels/slide7.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s>
</file>

<file path=ppt/slides/_rels/slide8.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6633"/>
        </a:solidFill>
        <a:effectLst/>
      </p:bgPr>
    </p:bg>
    <p:spTree>
      <p:nvGrpSpPr>
        <p:cNvPr id="1" name=""/>
        <p:cNvGrpSpPr/>
        <p:nvPr/>
      </p:nvGrpSpPr>
      <p:grpSpPr>
        <a:xfrm>
          <a:off x="0" y="0"/>
          <a:ext cx="0" cy="0"/>
          <a:chOff x="0" y="0"/>
          <a:chExt cx="0" cy="0"/>
        </a:xfrm>
      </p:grpSpPr>
      <p:sp>
        <p:nvSpPr>
          <p:cNvPr id="2" name="Text 0"/>
          <p:cNvSpPr/>
          <p:nvPr/>
        </p:nvSpPr>
        <p:spPr>
          <a:xfrm>
            <a:off x="548640" y="1097280"/>
            <a:ext cx="5029200" cy="1005840"/>
          </a:xfrm>
          <a:prstGeom prst="rect">
            <a:avLst/>
          </a:prstGeom>
          <a:noFill/>
          <a:ln/>
        </p:spPr>
        <p:txBody>
          <a:bodyPr wrap="square"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Campus Buddy</a:t>
            </a:r>
            <a:endParaRPr lang="en-US" sz="5200" dirty="0"/>
          </a:p>
        </p:txBody>
      </p:sp>
      <p:sp>
        <p:nvSpPr>
          <p:cNvPr id="3" name="Text 1"/>
          <p:cNvSpPr/>
          <p:nvPr/>
        </p:nvSpPr>
        <p:spPr>
          <a:xfrm>
            <a:off x="438912" y="2217420"/>
            <a:ext cx="5486400" cy="640080"/>
          </a:xfrm>
          <a:prstGeom prst="rect">
            <a:avLst/>
          </a:prstGeom>
          <a:noFill/>
          <a:ln/>
        </p:spPr>
        <p:txBody>
          <a:bodyPr wrap="square" rtlCol="0" anchor="ctr"/>
          <a:lstStyle/>
          <a:p>
            <a:pPr marL="0" indent="0">
              <a:buNone/>
            </a:pPr>
            <a:r>
              <a:rPr lang="en-US" sz="2200" i="1" dirty="0">
                <a:solidFill>
                  <a:srgbClr val="FFCC00"/>
                </a:solidFill>
                <a:latin typeface="Georgia" pitchFamily="34" charset="0"/>
                <a:ea typeface="Georgia" pitchFamily="34" charset="-122"/>
                <a:cs typeface="Georgia" pitchFamily="34" charset="-120"/>
              </a:rPr>
              <a:t>Your campus. Your people.</a:t>
            </a:r>
            <a:endParaRPr lang="en-US" sz="2200" dirty="0"/>
          </a:p>
        </p:txBody>
      </p:sp>
      <p:sp>
        <p:nvSpPr>
          <p:cNvPr id="4" name="Text 2"/>
          <p:cNvSpPr/>
          <p:nvPr/>
        </p:nvSpPr>
        <p:spPr>
          <a:xfrm>
            <a:off x="548640" y="2788920"/>
            <a:ext cx="5303520" cy="457200"/>
          </a:xfrm>
          <a:prstGeom prst="rect">
            <a:avLst/>
          </a:prstGeom>
          <a:noFill/>
          <a:ln/>
        </p:spPr>
        <p:txBody>
          <a:bodyPr wrap="square" rtlCol="0" anchor="ctr"/>
          <a:lstStyle/>
          <a:p>
            <a:pPr marL="0" indent="0">
              <a:buNone/>
            </a:pPr>
            <a:r>
              <a:rPr lang="en-US" sz="1300" dirty="0">
                <a:solidFill>
                  <a:srgbClr val="CCCCCC"/>
                </a:solidFill>
              </a:rPr>
              <a:t>A verified college student platform for Virginia universities.</a:t>
            </a:r>
            <a:endParaRPr lang="en-US" sz="1300" dirty="0"/>
          </a:p>
        </p:txBody>
      </p:sp>
      <p:sp>
        <p:nvSpPr>
          <p:cNvPr id="5" name="Shape 3"/>
          <p:cNvSpPr/>
          <p:nvPr/>
        </p:nvSpPr>
        <p:spPr>
          <a:xfrm>
            <a:off x="548640"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6" name="Text 4"/>
          <p:cNvSpPr/>
          <p:nvPr/>
        </p:nvSpPr>
        <p:spPr>
          <a:xfrm>
            <a:off x="548640"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GMU</a:t>
            </a:r>
            <a:endParaRPr lang="en-US" sz="850" dirty="0"/>
          </a:p>
        </p:txBody>
      </p:sp>
      <p:sp>
        <p:nvSpPr>
          <p:cNvPr id="7" name="Shape 5"/>
          <p:cNvSpPr/>
          <p:nvPr/>
        </p:nvSpPr>
        <p:spPr>
          <a:xfrm>
            <a:off x="1207008"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8" name="Text 6"/>
          <p:cNvSpPr/>
          <p:nvPr/>
        </p:nvSpPr>
        <p:spPr>
          <a:xfrm>
            <a:off x="1207008"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VT</a:t>
            </a:r>
            <a:endParaRPr lang="en-US" sz="850" dirty="0"/>
          </a:p>
        </p:txBody>
      </p:sp>
      <p:sp>
        <p:nvSpPr>
          <p:cNvPr id="9" name="Shape 7"/>
          <p:cNvSpPr/>
          <p:nvPr/>
        </p:nvSpPr>
        <p:spPr>
          <a:xfrm>
            <a:off x="1865376"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10" name="Text 8"/>
          <p:cNvSpPr/>
          <p:nvPr/>
        </p:nvSpPr>
        <p:spPr>
          <a:xfrm>
            <a:off x="1865376"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UVA</a:t>
            </a:r>
            <a:endParaRPr lang="en-US" sz="850" dirty="0"/>
          </a:p>
        </p:txBody>
      </p:sp>
      <p:sp>
        <p:nvSpPr>
          <p:cNvPr id="11" name="Shape 9"/>
          <p:cNvSpPr/>
          <p:nvPr/>
        </p:nvSpPr>
        <p:spPr>
          <a:xfrm>
            <a:off x="2523744"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12" name="Text 10"/>
          <p:cNvSpPr/>
          <p:nvPr/>
        </p:nvSpPr>
        <p:spPr>
          <a:xfrm>
            <a:off x="2523744"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JMU</a:t>
            </a:r>
            <a:endParaRPr lang="en-US" sz="850" dirty="0"/>
          </a:p>
        </p:txBody>
      </p:sp>
      <p:sp>
        <p:nvSpPr>
          <p:cNvPr id="13" name="Shape 11"/>
          <p:cNvSpPr/>
          <p:nvPr/>
        </p:nvSpPr>
        <p:spPr>
          <a:xfrm>
            <a:off x="3182112"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14" name="Text 12"/>
          <p:cNvSpPr/>
          <p:nvPr/>
        </p:nvSpPr>
        <p:spPr>
          <a:xfrm>
            <a:off x="3182112"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VCU</a:t>
            </a:r>
            <a:endParaRPr lang="en-US" sz="850" dirty="0"/>
          </a:p>
        </p:txBody>
      </p:sp>
      <p:sp>
        <p:nvSpPr>
          <p:cNvPr id="15" name="Shape 13"/>
          <p:cNvSpPr/>
          <p:nvPr/>
        </p:nvSpPr>
        <p:spPr>
          <a:xfrm>
            <a:off x="3840480"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16" name="Text 14"/>
          <p:cNvSpPr/>
          <p:nvPr/>
        </p:nvSpPr>
        <p:spPr>
          <a:xfrm>
            <a:off x="3840480"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W&amp;M</a:t>
            </a:r>
            <a:endParaRPr lang="en-US" sz="850" dirty="0"/>
          </a:p>
        </p:txBody>
      </p:sp>
      <p:sp>
        <p:nvSpPr>
          <p:cNvPr id="17" name="Shape 15"/>
          <p:cNvSpPr/>
          <p:nvPr/>
        </p:nvSpPr>
        <p:spPr>
          <a:xfrm>
            <a:off x="4498848" y="3337560"/>
            <a:ext cx="566928" cy="246888"/>
          </a:xfrm>
          <a:prstGeom prst="roundRect">
            <a:avLst>
              <a:gd name="adj" fmla="val 44444"/>
            </a:avLst>
          </a:prstGeom>
          <a:solidFill>
            <a:srgbClr val="FFFFFF">
              <a:alpha val="20000"/>
            </a:srgbClr>
          </a:solidFill>
          <a:ln w="12700">
            <a:solidFill>
              <a:srgbClr val="FFFFFF">
                <a:alpha val="50000"/>
              </a:srgbClr>
            </a:solidFill>
            <a:prstDash val="solid"/>
          </a:ln>
        </p:spPr>
        <p:txBody>
          <a:bodyPr/>
          <a:lstStyle/>
          <a:p>
            <a:endParaRPr lang="en-US"/>
          </a:p>
        </p:txBody>
      </p:sp>
      <p:sp>
        <p:nvSpPr>
          <p:cNvPr id="18" name="Text 16"/>
          <p:cNvSpPr/>
          <p:nvPr/>
        </p:nvSpPr>
        <p:spPr>
          <a:xfrm>
            <a:off x="4498848" y="3337560"/>
            <a:ext cx="566928" cy="246888"/>
          </a:xfrm>
          <a:prstGeom prst="rect">
            <a:avLst/>
          </a:prstGeom>
          <a:noFill/>
          <a:ln/>
        </p:spPr>
        <p:txBody>
          <a:bodyPr wrap="square" lIns="0" tIns="0" rIns="0" bIns="0" rtlCol="0" anchor="ctr"/>
          <a:lstStyle/>
          <a:p>
            <a:pPr marL="0" indent="0" algn="ctr">
              <a:buNone/>
            </a:pPr>
            <a:r>
              <a:rPr lang="en-US" sz="850" b="1" dirty="0">
                <a:solidFill>
                  <a:srgbClr val="FFFFFF"/>
                </a:solidFill>
              </a:rPr>
              <a:t>ODU</a:t>
            </a:r>
            <a:endParaRPr lang="en-US" sz="850" dirty="0"/>
          </a:p>
        </p:txBody>
      </p:sp>
      <p:sp>
        <p:nvSpPr>
          <p:cNvPr id="19" name="Text 17"/>
          <p:cNvSpPr/>
          <p:nvPr/>
        </p:nvSpPr>
        <p:spPr>
          <a:xfrm>
            <a:off x="548640" y="4389120"/>
            <a:ext cx="8046720" cy="320040"/>
          </a:xfrm>
          <a:prstGeom prst="rect">
            <a:avLst/>
          </a:prstGeom>
          <a:noFill/>
          <a:ln/>
        </p:spPr>
        <p:txBody>
          <a:bodyPr wrap="square" rtlCol="0" anchor="ctr"/>
          <a:lstStyle/>
          <a:p>
            <a:pPr marL="0" indent="0" algn="l">
              <a:buNone/>
            </a:pPr>
            <a:r>
              <a:rPr lang="en-US" sz="1100" dirty="0">
                <a:solidFill>
                  <a:srgbClr val="AACCAA"/>
                </a:solidFill>
              </a:rPr>
              <a:t>Shayan Khan  ·  Noe Flores  ·  Aser Eshetu  ·  Enoch Ogunfiditimi  ·  Kayla Suttihprapa</a:t>
            </a:r>
            <a:endParaRPr lang="en-US" sz="1100" dirty="0"/>
          </a:p>
        </p:txBody>
      </p:sp>
      <p:sp>
        <p:nvSpPr>
          <p:cNvPr id="20" name="Text 18"/>
          <p:cNvSpPr/>
          <p:nvPr/>
        </p:nvSpPr>
        <p:spPr>
          <a:xfrm>
            <a:off x="548640" y="4709160"/>
            <a:ext cx="7315200" cy="274320"/>
          </a:xfrm>
          <a:prstGeom prst="rect">
            <a:avLst/>
          </a:prstGeom>
          <a:noFill/>
          <a:ln/>
        </p:spPr>
        <p:txBody>
          <a:bodyPr wrap="square" rtlCol="0" anchor="ctr"/>
          <a:lstStyle/>
          <a:p>
            <a:pPr marL="0" indent="0">
              <a:buNone/>
            </a:pPr>
            <a:r>
              <a:rPr lang="en-US" sz="1000" dirty="0">
                <a:solidFill>
                  <a:srgbClr val="99AA99"/>
                </a:solidFill>
              </a:rPr>
              <a:t>CS 321  ·  Spring 2026  ·  Prof. Dr. David Samudio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594360"/>
          </a:xfrm>
          <a:prstGeom prst="rect">
            <a:avLst/>
          </a:prstGeom>
          <a:noFill/>
          <a:ln/>
        </p:spPr>
        <p:txBody>
          <a:bodyPr wrap="square" rtlCol="0" anchor="ctr"/>
          <a:lstStyle/>
          <a:p>
            <a:pPr marL="0" indent="0">
              <a:buNone/>
            </a:pPr>
            <a:r>
              <a:rPr lang="en-US" sz="3400" b="1" dirty="0">
                <a:solidFill>
                  <a:srgbClr val="111111"/>
                </a:solidFill>
                <a:latin typeface="Georgia" pitchFamily="34" charset="0"/>
                <a:ea typeface="Georgia" pitchFamily="34" charset="-122"/>
                <a:cs typeface="Georgia" pitchFamily="34" charset="-120"/>
              </a:rPr>
              <a:t>The Problem</a:t>
            </a:r>
            <a:endParaRPr lang="en-US" sz="3400" dirty="0"/>
          </a:p>
        </p:txBody>
      </p:sp>
      <p:sp>
        <p:nvSpPr>
          <p:cNvPr id="3" name="Text 1"/>
          <p:cNvSpPr/>
          <p:nvPr/>
        </p:nvSpPr>
        <p:spPr>
          <a:xfrm>
            <a:off x="502920" y="868680"/>
            <a:ext cx="8229600" cy="347472"/>
          </a:xfrm>
          <a:prstGeom prst="rect">
            <a:avLst/>
          </a:prstGeom>
          <a:noFill/>
          <a:ln/>
        </p:spPr>
        <p:txBody>
          <a:bodyPr wrap="square" rtlCol="0" anchor="ctr"/>
          <a:lstStyle/>
          <a:p>
            <a:pPr marL="0" indent="0">
              <a:buNone/>
            </a:pPr>
            <a:r>
              <a:rPr lang="en-US" sz="1400" i="1" dirty="0">
                <a:solidFill>
                  <a:srgbClr val="6B7280"/>
                </a:solidFill>
              </a:rPr>
              <a:t>Students juggle 4+ disconnected platforms with zero verification</a:t>
            </a:r>
            <a:endParaRPr lang="en-US" sz="1400" dirty="0"/>
          </a:p>
        </p:txBody>
      </p:sp>
      <p:sp>
        <p:nvSpPr>
          <p:cNvPr id="4" name="Shape 2"/>
          <p:cNvSpPr/>
          <p:nvPr/>
        </p:nvSpPr>
        <p:spPr>
          <a:xfrm>
            <a:off x="411480" y="1417320"/>
            <a:ext cx="3977640" cy="13258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76072" y="1581912"/>
            <a:ext cx="3657600" cy="384048"/>
          </a:xfrm>
          <a:prstGeom prst="rect">
            <a:avLst/>
          </a:prstGeom>
          <a:noFill/>
          <a:ln/>
        </p:spPr>
        <p:txBody>
          <a:bodyPr wrap="square" rtlCol="0" anchor="ctr"/>
          <a:lstStyle/>
          <a:p>
            <a:pPr marL="0" indent="0">
              <a:buNone/>
            </a:pPr>
            <a:r>
              <a:rPr lang="en-US" sz="1300" b="1" dirty="0">
                <a:solidFill>
                  <a:srgbClr val="111111"/>
                </a:solidFill>
              </a:rPr>
              <a:t>💬  GroupMe / Discord</a:t>
            </a:r>
            <a:endParaRPr lang="en-US" sz="1300" dirty="0"/>
          </a:p>
        </p:txBody>
      </p:sp>
      <p:sp>
        <p:nvSpPr>
          <p:cNvPr id="6" name="Text 4"/>
          <p:cNvSpPr/>
          <p:nvPr/>
        </p:nvSpPr>
        <p:spPr>
          <a:xfrm>
            <a:off x="576072" y="1947672"/>
            <a:ext cx="3657600" cy="594360"/>
          </a:xfrm>
          <a:prstGeom prst="rect">
            <a:avLst/>
          </a:prstGeom>
          <a:noFill/>
          <a:ln/>
        </p:spPr>
        <p:txBody>
          <a:bodyPr wrap="square" rtlCol="0" anchor="ctr"/>
          <a:lstStyle/>
          <a:p>
            <a:pPr marL="0" indent="0">
              <a:buNone/>
            </a:pPr>
            <a:r>
              <a:rPr lang="en-US" sz="1100" dirty="0">
                <a:solidFill>
                  <a:srgbClr val="6B7280"/>
                </a:solidFill>
              </a:rPr>
              <a:t>No identity verification — bots and outsiders join freely</a:t>
            </a:r>
            <a:endParaRPr lang="en-US" sz="1100" dirty="0"/>
          </a:p>
        </p:txBody>
      </p:sp>
      <p:sp>
        <p:nvSpPr>
          <p:cNvPr id="7" name="Shape 5"/>
          <p:cNvSpPr/>
          <p:nvPr/>
        </p:nvSpPr>
        <p:spPr>
          <a:xfrm>
            <a:off x="4709160" y="1417320"/>
            <a:ext cx="3977640" cy="13258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4873752" y="1581912"/>
            <a:ext cx="3657600" cy="384048"/>
          </a:xfrm>
          <a:prstGeom prst="rect">
            <a:avLst/>
          </a:prstGeom>
          <a:noFill/>
          <a:ln/>
        </p:spPr>
        <p:txBody>
          <a:bodyPr wrap="square" rtlCol="0" anchor="ctr"/>
          <a:lstStyle/>
          <a:p>
            <a:pPr marL="0" indent="0">
              <a:buNone/>
            </a:pPr>
            <a:r>
              <a:rPr lang="en-US" sz="1300" b="1" dirty="0">
                <a:solidFill>
                  <a:srgbClr val="111111"/>
                </a:solidFill>
              </a:rPr>
              <a:t>📘  Facebook Groups</a:t>
            </a:r>
            <a:endParaRPr lang="en-US" sz="1300" dirty="0"/>
          </a:p>
        </p:txBody>
      </p:sp>
      <p:sp>
        <p:nvSpPr>
          <p:cNvPr id="9" name="Text 7"/>
          <p:cNvSpPr/>
          <p:nvPr/>
        </p:nvSpPr>
        <p:spPr>
          <a:xfrm>
            <a:off x="4873752" y="1947672"/>
            <a:ext cx="3657600" cy="594360"/>
          </a:xfrm>
          <a:prstGeom prst="rect">
            <a:avLst/>
          </a:prstGeom>
          <a:noFill/>
          <a:ln/>
        </p:spPr>
        <p:txBody>
          <a:bodyPr wrap="square" rtlCol="0" anchor="ctr"/>
          <a:lstStyle/>
          <a:p>
            <a:pPr marL="0" indent="0">
              <a:buNone/>
            </a:pPr>
            <a:r>
              <a:rPr lang="en-US" sz="1100" dirty="0">
                <a:solidFill>
                  <a:srgbClr val="6B7280"/>
                </a:solidFill>
              </a:rPr>
              <a:t>No university filter — anyone can join, no academic focus</a:t>
            </a:r>
            <a:endParaRPr lang="en-US" sz="1100" dirty="0"/>
          </a:p>
        </p:txBody>
      </p:sp>
      <p:sp>
        <p:nvSpPr>
          <p:cNvPr id="10" name="Shape 8"/>
          <p:cNvSpPr/>
          <p:nvPr/>
        </p:nvSpPr>
        <p:spPr>
          <a:xfrm>
            <a:off x="411480" y="2926080"/>
            <a:ext cx="3977640" cy="13258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576072" y="3090672"/>
            <a:ext cx="3657600" cy="384048"/>
          </a:xfrm>
          <a:prstGeom prst="rect">
            <a:avLst/>
          </a:prstGeom>
          <a:noFill/>
          <a:ln/>
        </p:spPr>
        <p:txBody>
          <a:bodyPr wrap="square" rtlCol="0" anchor="ctr"/>
          <a:lstStyle/>
          <a:p>
            <a:pPr marL="0" indent="0">
              <a:buNone/>
            </a:pPr>
            <a:r>
              <a:rPr lang="en-US" sz="1300" b="1" dirty="0">
                <a:solidFill>
                  <a:srgbClr val="111111"/>
                </a:solidFill>
              </a:rPr>
              <a:t>🛒  Facebook Marketplace</a:t>
            </a:r>
            <a:endParaRPr lang="en-US" sz="1300" dirty="0"/>
          </a:p>
        </p:txBody>
      </p:sp>
      <p:sp>
        <p:nvSpPr>
          <p:cNvPr id="12" name="Text 10"/>
          <p:cNvSpPr/>
          <p:nvPr/>
        </p:nvSpPr>
        <p:spPr>
          <a:xfrm>
            <a:off x="576072" y="3456432"/>
            <a:ext cx="3657600" cy="594360"/>
          </a:xfrm>
          <a:prstGeom prst="rect">
            <a:avLst/>
          </a:prstGeom>
          <a:noFill/>
          <a:ln/>
        </p:spPr>
        <p:txBody>
          <a:bodyPr wrap="square" rtlCol="0" anchor="ctr"/>
          <a:lstStyle/>
          <a:p>
            <a:pPr marL="0" indent="0">
              <a:buNone/>
            </a:pPr>
            <a:r>
              <a:rPr lang="en-US" sz="1100" dirty="0">
                <a:solidFill>
                  <a:srgbClr val="6B7280"/>
                </a:solidFill>
              </a:rPr>
              <a:t>No trust layer — students meet strangers for textbooks</a:t>
            </a:r>
            <a:endParaRPr lang="en-US" sz="1100" dirty="0"/>
          </a:p>
        </p:txBody>
      </p:sp>
      <p:sp>
        <p:nvSpPr>
          <p:cNvPr id="13" name="Shape 11"/>
          <p:cNvSpPr/>
          <p:nvPr/>
        </p:nvSpPr>
        <p:spPr>
          <a:xfrm>
            <a:off x="4709160" y="2926080"/>
            <a:ext cx="3977640" cy="132588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4873752" y="3090672"/>
            <a:ext cx="3657600" cy="384048"/>
          </a:xfrm>
          <a:prstGeom prst="rect">
            <a:avLst/>
          </a:prstGeom>
          <a:noFill/>
          <a:ln/>
        </p:spPr>
        <p:txBody>
          <a:bodyPr wrap="square" rtlCol="0" anchor="ctr"/>
          <a:lstStyle/>
          <a:p>
            <a:pPr marL="0" indent="0">
              <a:buNone/>
            </a:pPr>
            <a:r>
              <a:rPr lang="en-US" sz="1300" b="1" dirty="0">
                <a:solidFill>
                  <a:srgbClr val="111111"/>
                </a:solidFill>
              </a:rPr>
              <a:t>🎓  Blackboard / Canvas</a:t>
            </a:r>
            <a:endParaRPr lang="en-US" sz="1300" dirty="0"/>
          </a:p>
        </p:txBody>
      </p:sp>
      <p:sp>
        <p:nvSpPr>
          <p:cNvPr id="15" name="Text 13"/>
          <p:cNvSpPr/>
          <p:nvPr/>
        </p:nvSpPr>
        <p:spPr>
          <a:xfrm>
            <a:off x="4873752" y="3456432"/>
            <a:ext cx="3657600" cy="594360"/>
          </a:xfrm>
          <a:prstGeom prst="rect">
            <a:avLst/>
          </a:prstGeom>
          <a:noFill/>
          <a:ln/>
        </p:spPr>
        <p:txBody>
          <a:bodyPr wrap="square" rtlCol="0" anchor="ctr"/>
          <a:lstStyle/>
          <a:p>
            <a:pPr marL="0" indent="0">
              <a:buNone/>
            </a:pPr>
            <a:r>
              <a:rPr lang="en-US" sz="1100" dirty="0">
                <a:solidFill>
                  <a:srgbClr val="6B7280"/>
                </a:solidFill>
              </a:rPr>
              <a:t>Limited peer collaboration — lecture delivery only, no community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594360"/>
          </a:xfrm>
          <a:prstGeom prst="rect">
            <a:avLst/>
          </a:prstGeom>
          <a:noFill/>
          <a:ln/>
        </p:spPr>
        <p:txBody>
          <a:bodyPr wrap="square" rtlCol="0" anchor="ctr"/>
          <a:lstStyle/>
          <a:p>
            <a:pPr marL="0" indent="0">
              <a:buNone/>
            </a:pPr>
            <a:r>
              <a:rPr lang="en-US" sz="3400" b="1" dirty="0">
                <a:solidFill>
                  <a:srgbClr val="111111"/>
                </a:solidFill>
                <a:latin typeface="Georgia" pitchFamily="34" charset="0"/>
                <a:ea typeface="Georgia" pitchFamily="34" charset="-122"/>
                <a:cs typeface="Georgia" pitchFamily="34" charset="-120"/>
              </a:rPr>
              <a:t>Our Solution</a:t>
            </a:r>
            <a:endParaRPr lang="en-US" sz="3400" dirty="0"/>
          </a:p>
        </p:txBody>
      </p:sp>
      <p:sp>
        <p:nvSpPr>
          <p:cNvPr id="3" name="Text 1"/>
          <p:cNvSpPr/>
          <p:nvPr/>
        </p:nvSpPr>
        <p:spPr>
          <a:xfrm>
            <a:off x="502920" y="868680"/>
            <a:ext cx="8229600" cy="347472"/>
          </a:xfrm>
          <a:prstGeom prst="rect">
            <a:avLst/>
          </a:prstGeom>
          <a:noFill/>
          <a:ln/>
        </p:spPr>
        <p:txBody>
          <a:bodyPr wrap="square" rtlCol="0" anchor="ctr"/>
          <a:lstStyle/>
          <a:p>
            <a:pPr marL="0" indent="0">
              <a:buNone/>
            </a:pPr>
            <a:r>
              <a:rPr lang="en-US" sz="1400" i="1" dirty="0">
                <a:solidFill>
                  <a:srgbClr val="6B7280"/>
                </a:solidFill>
              </a:rPr>
              <a:t>One verified platform — everything a college student needs</a:t>
            </a:r>
            <a:endParaRPr lang="en-US" sz="1400" dirty="0"/>
          </a:p>
        </p:txBody>
      </p:sp>
      <p:sp>
        <p:nvSpPr>
          <p:cNvPr id="4" name="Shape 2"/>
          <p:cNvSpPr/>
          <p:nvPr/>
        </p:nvSpPr>
        <p:spPr>
          <a:xfrm>
            <a:off x="411480" y="1417320"/>
            <a:ext cx="3977640" cy="14173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411480" y="1417320"/>
            <a:ext cx="73152" cy="1417320"/>
          </a:xfrm>
          <a:prstGeom prst="rect">
            <a:avLst/>
          </a:prstGeom>
          <a:solidFill>
            <a:srgbClr val="006633"/>
          </a:solidFill>
          <a:ln w="12700">
            <a:solidFill>
              <a:srgbClr val="006633"/>
            </a:solidFill>
            <a:prstDash val="solid"/>
          </a:ln>
        </p:spPr>
        <p:txBody>
          <a:bodyPr/>
          <a:lstStyle/>
          <a:p>
            <a:endParaRPr lang="en-US"/>
          </a:p>
        </p:txBody>
      </p:sp>
      <p:sp>
        <p:nvSpPr>
          <p:cNvPr id="6" name="Text 4"/>
          <p:cNvSpPr/>
          <p:nvPr/>
        </p:nvSpPr>
        <p:spPr>
          <a:xfrm>
            <a:off x="594360" y="1554480"/>
            <a:ext cx="640080" cy="347472"/>
          </a:xfrm>
          <a:prstGeom prst="rect">
            <a:avLst/>
          </a:prstGeom>
          <a:noFill/>
          <a:ln/>
        </p:spPr>
        <p:txBody>
          <a:bodyPr wrap="square" rtlCol="0" anchor="ctr"/>
          <a:lstStyle/>
          <a:p>
            <a:pPr marL="0" indent="0">
              <a:buNone/>
            </a:pPr>
            <a:r>
              <a:rPr lang="en-US" sz="2000" b="1" dirty="0">
                <a:solidFill>
                  <a:srgbClr val="006633"/>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594360" y="1874520"/>
            <a:ext cx="3657600" cy="329184"/>
          </a:xfrm>
          <a:prstGeom prst="rect">
            <a:avLst/>
          </a:prstGeom>
          <a:noFill/>
          <a:ln/>
        </p:spPr>
        <p:txBody>
          <a:bodyPr wrap="square" rtlCol="0" anchor="ctr"/>
          <a:lstStyle/>
          <a:p>
            <a:pPr marL="0" indent="0">
              <a:buNone/>
            </a:pPr>
            <a:r>
              <a:rPr lang="en-US" sz="1300" b="1" dirty="0">
                <a:solidFill>
                  <a:srgbClr val="111111"/>
                </a:solidFill>
              </a:rPr>
              <a:t>Verified Identity</a:t>
            </a:r>
            <a:endParaRPr lang="en-US" sz="1300" dirty="0"/>
          </a:p>
        </p:txBody>
      </p:sp>
      <p:sp>
        <p:nvSpPr>
          <p:cNvPr id="8" name="Text 6"/>
          <p:cNvSpPr/>
          <p:nvPr/>
        </p:nvSpPr>
        <p:spPr>
          <a:xfrm>
            <a:off x="594360" y="2185416"/>
            <a:ext cx="3657600" cy="548640"/>
          </a:xfrm>
          <a:prstGeom prst="rect">
            <a:avLst/>
          </a:prstGeom>
          <a:noFill/>
          <a:ln/>
        </p:spPr>
        <p:txBody>
          <a:bodyPr wrap="square" rtlCol="0" anchor="ctr"/>
          <a:lstStyle/>
          <a:p>
            <a:pPr marL="0" indent="0">
              <a:buNone/>
            </a:pPr>
            <a:r>
              <a:rPr lang="en-US" sz="1050" dirty="0">
                <a:solidFill>
                  <a:srgbClr val="6B7280"/>
                </a:solidFill>
              </a:rPr>
              <a:t>Sign up with your @university.edu email. Domain is checked against 7 supported Virginia universities.</a:t>
            </a:r>
            <a:endParaRPr lang="en-US" sz="1050" dirty="0"/>
          </a:p>
        </p:txBody>
      </p:sp>
      <p:sp>
        <p:nvSpPr>
          <p:cNvPr id="9" name="Shape 7"/>
          <p:cNvSpPr/>
          <p:nvPr/>
        </p:nvSpPr>
        <p:spPr>
          <a:xfrm>
            <a:off x="4709160" y="1417320"/>
            <a:ext cx="3977640" cy="14173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709160" y="1417320"/>
            <a:ext cx="73152" cy="1417320"/>
          </a:xfrm>
          <a:prstGeom prst="rect">
            <a:avLst/>
          </a:prstGeom>
          <a:solidFill>
            <a:srgbClr val="006633"/>
          </a:solidFill>
          <a:ln w="12700">
            <a:solidFill>
              <a:srgbClr val="006633"/>
            </a:solidFill>
            <a:prstDash val="solid"/>
          </a:ln>
        </p:spPr>
        <p:txBody>
          <a:bodyPr/>
          <a:lstStyle/>
          <a:p>
            <a:endParaRPr lang="en-US"/>
          </a:p>
        </p:txBody>
      </p:sp>
      <p:sp>
        <p:nvSpPr>
          <p:cNvPr id="11" name="Text 9"/>
          <p:cNvSpPr/>
          <p:nvPr/>
        </p:nvSpPr>
        <p:spPr>
          <a:xfrm>
            <a:off x="4892040" y="1554480"/>
            <a:ext cx="640080" cy="347472"/>
          </a:xfrm>
          <a:prstGeom prst="rect">
            <a:avLst/>
          </a:prstGeom>
          <a:noFill/>
          <a:ln/>
        </p:spPr>
        <p:txBody>
          <a:bodyPr wrap="square" rtlCol="0" anchor="ctr"/>
          <a:lstStyle/>
          <a:p>
            <a:pPr marL="0" indent="0">
              <a:buNone/>
            </a:pPr>
            <a:r>
              <a:rPr lang="en-US" sz="2000" b="1" dirty="0">
                <a:solidFill>
                  <a:srgbClr val="006633"/>
                </a:solidFill>
                <a:latin typeface="Georgia" pitchFamily="34" charset="0"/>
                <a:ea typeface="Georgia" pitchFamily="34" charset="-122"/>
                <a:cs typeface="Georgia" pitchFamily="34" charset="-120"/>
              </a:rPr>
              <a:t>02</a:t>
            </a:r>
            <a:endParaRPr lang="en-US" sz="2000" dirty="0"/>
          </a:p>
        </p:txBody>
      </p:sp>
      <p:sp>
        <p:nvSpPr>
          <p:cNvPr id="12" name="Text 10"/>
          <p:cNvSpPr/>
          <p:nvPr/>
        </p:nvSpPr>
        <p:spPr>
          <a:xfrm>
            <a:off x="4892040" y="1874520"/>
            <a:ext cx="3657600" cy="329184"/>
          </a:xfrm>
          <a:prstGeom prst="rect">
            <a:avLst/>
          </a:prstGeom>
          <a:noFill/>
          <a:ln/>
        </p:spPr>
        <p:txBody>
          <a:bodyPr wrap="square" rtlCol="0" anchor="ctr"/>
          <a:lstStyle/>
          <a:p>
            <a:pPr marL="0" indent="0">
              <a:buNone/>
            </a:pPr>
            <a:r>
              <a:rPr lang="en-US" sz="1300" b="1" dirty="0">
                <a:solidFill>
                  <a:srgbClr val="111111"/>
                </a:solidFill>
              </a:rPr>
              <a:t>Study Groups</a:t>
            </a:r>
            <a:endParaRPr lang="en-US" sz="1300" dirty="0"/>
          </a:p>
        </p:txBody>
      </p:sp>
      <p:sp>
        <p:nvSpPr>
          <p:cNvPr id="13" name="Text 11"/>
          <p:cNvSpPr/>
          <p:nvPr/>
        </p:nvSpPr>
        <p:spPr>
          <a:xfrm>
            <a:off x="4892040" y="2185416"/>
            <a:ext cx="3657600" cy="548640"/>
          </a:xfrm>
          <a:prstGeom prst="rect">
            <a:avLst/>
          </a:prstGeom>
          <a:noFill/>
          <a:ln/>
        </p:spPr>
        <p:txBody>
          <a:bodyPr wrap="square" rtlCol="0" anchor="ctr"/>
          <a:lstStyle/>
          <a:p>
            <a:pPr marL="0" indent="0">
              <a:buNone/>
            </a:pPr>
            <a:r>
              <a:rPr lang="en-US" sz="1050" dirty="0">
                <a:solidFill>
                  <a:srgbClr val="6B7280"/>
                </a:solidFill>
              </a:rPr>
              <a:t>Create and join course-specific study groups. Only verified classmates at your school can see them.</a:t>
            </a:r>
            <a:endParaRPr lang="en-US" sz="1050" dirty="0"/>
          </a:p>
        </p:txBody>
      </p:sp>
      <p:sp>
        <p:nvSpPr>
          <p:cNvPr id="14" name="Shape 12"/>
          <p:cNvSpPr/>
          <p:nvPr/>
        </p:nvSpPr>
        <p:spPr>
          <a:xfrm>
            <a:off x="411480" y="3017520"/>
            <a:ext cx="3977640" cy="14173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11480" y="3017520"/>
            <a:ext cx="73152" cy="1417320"/>
          </a:xfrm>
          <a:prstGeom prst="rect">
            <a:avLst/>
          </a:prstGeom>
          <a:solidFill>
            <a:srgbClr val="006633"/>
          </a:solidFill>
          <a:ln w="12700">
            <a:solidFill>
              <a:srgbClr val="006633"/>
            </a:solidFill>
            <a:prstDash val="solid"/>
          </a:ln>
        </p:spPr>
        <p:txBody>
          <a:bodyPr/>
          <a:lstStyle/>
          <a:p>
            <a:endParaRPr lang="en-US"/>
          </a:p>
        </p:txBody>
      </p:sp>
      <p:sp>
        <p:nvSpPr>
          <p:cNvPr id="16" name="Text 14"/>
          <p:cNvSpPr/>
          <p:nvPr/>
        </p:nvSpPr>
        <p:spPr>
          <a:xfrm>
            <a:off x="594360" y="3154680"/>
            <a:ext cx="640080" cy="347472"/>
          </a:xfrm>
          <a:prstGeom prst="rect">
            <a:avLst/>
          </a:prstGeom>
          <a:noFill/>
          <a:ln/>
        </p:spPr>
        <p:txBody>
          <a:bodyPr wrap="square" rtlCol="0" anchor="ctr"/>
          <a:lstStyle/>
          <a:p>
            <a:pPr marL="0" indent="0">
              <a:buNone/>
            </a:pPr>
            <a:r>
              <a:rPr lang="en-US" sz="2000" b="1" dirty="0">
                <a:solidFill>
                  <a:srgbClr val="006633"/>
                </a:solidFill>
                <a:latin typeface="Georgia" pitchFamily="34" charset="0"/>
                <a:ea typeface="Georgia" pitchFamily="34" charset="-122"/>
                <a:cs typeface="Georgia" pitchFamily="34" charset="-120"/>
              </a:rPr>
              <a:t>03</a:t>
            </a:r>
            <a:endParaRPr lang="en-US" sz="2000" dirty="0"/>
          </a:p>
        </p:txBody>
      </p:sp>
      <p:sp>
        <p:nvSpPr>
          <p:cNvPr id="17" name="Text 15"/>
          <p:cNvSpPr/>
          <p:nvPr/>
        </p:nvSpPr>
        <p:spPr>
          <a:xfrm>
            <a:off x="594360" y="3474720"/>
            <a:ext cx="3657600" cy="329184"/>
          </a:xfrm>
          <a:prstGeom prst="rect">
            <a:avLst/>
          </a:prstGeom>
          <a:noFill/>
          <a:ln/>
        </p:spPr>
        <p:txBody>
          <a:bodyPr wrap="square" rtlCol="0" anchor="ctr"/>
          <a:lstStyle/>
          <a:p>
            <a:pPr marL="0" indent="0">
              <a:buNone/>
            </a:pPr>
            <a:r>
              <a:rPr lang="en-US" sz="1300" b="1" dirty="0">
                <a:solidFill>
                  <a:srgbClr val="111111"/>
                </a:solidFill>
              </a:rPr>
              <a:t>Campus Events</a:t>
            </a:r>
            <a:endParaRPr lang="en-US" sz="1300" dirty="0"/>
          </a:p>
        </p:txBody>
      </p:sp>
      <p:sp>
        <p:nvSpPr>
          <p:cNvPr id="18" name="Text 16"/>
          <p:cNvSpPr/>
          <p:nvPr/>
        </p:nvSpPr>
        <p:spPr>
          <a:xfrm>
            <a:off x="594360" y="3785616"/>
            <a:ext cx="3657600" cy="548640"/>
          </a:xfrm>
          <a:prstGeom prst="rect">
            <a:avLst/>
          </a:prstGeom>
          <a:noFill/>
          <a:ln/>
        </p:spPr>
        <p:txBody>
          <a:bodyPr wrap="square" rtlCol="0" anchor="ctr"/>
          <a:lstStyle/>
          <a:p>
            <a:pPr marL="0" indent="0">
              <a:buNone/>
            </a:pPr>
            <a:r>
              <a:rPr lang="en-US" sz="1050" dirty="0">
                <a:solidFill>
                  <a:srgbClr val="6B7280"/>
                </a:solidFill>
              </a:rPr>
              <a:t>Post and RSVP to campus events. All events are from verified students at your own university.</a:t>
            </a:r>
            <a:endParaRPr lang="en-US" sz="1050" dirty="0"/>
          </a:p>
        </p:txBody>
      </p:sp>
      <p:sp>
        <p:nvSpPr>
          <p:cNvPr id="19" name="Shape 17"/>
          <p:cNvSpPr/>
          <p:nvPr/>
        </p:nvSpPr>
        <p:spPr>
          <a:xfrm>
            <a:off x="4709160" y="3017520"/>
            <a:ext cx="3977640" cy="14173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709160" y="3017520"/>
            <a:ext cx="73152" cy="1417320"/>
          </a:xfrm>
          <a:prstGeom prst="rect">
            <a:avLst/>
          </a:prstGeom>
          <a:solidFill>
            <a:srgbClr val="006633"/>
          </a:solidFill>
          <a:ln w="12700">
            <a:solidFill>
              <a:srgbClr val="006633"/>
            </a:solidFill>
            <a:prstDash val="solid"/>
          </a:ln>
        </p:spPr>
        <p:txBody>
          <a:bodyPr/>
          <a:lstStyle/>
          <a:p>
            <a:endParaRPr lang="en-US"/>
          </a:p>
        </p:txBody>
      </p:sp>
      <p:sp>
        <p:nvSpPr>
          <p:cNvPr id="21" name="Text 19"/>
          <p:cNvSpPr/>
          <p:nvPr/>
        </p:nvSpPr>
        <p:spPr>
          <a:xfrm>
            <a:off x="4892040" y="3154680"/>
            <a:ext cx="640080" cy="347472"/>
          </a:xfrm>
          <a:prstGeom prst="rect">
            <a:avLst/>
          </a:prstGeom>
          <a:noFill/>
          <a:ln/>
        </p:spPr>
        <p:txBody>
          <a:bodyPr wrap="square" rtlCol="0" anchor="ctr"/>
          <a:lstStyle/>
          <a:p>
            <a:pPr marL="0" indent="0">
              <a:buNone/>
            </a:pPr>
            <a:r>
              <a:rPr lang="en-US" sz="2000" b="1" dirty="0">
                <a:solidFill>
                  <a:srgbClr val="006633"/>
                </a:solidFill>
                <a:latin typeface="Georgia" pitchFamily="34" charset="0"/>
                <a:ea typeface="Georgia" pitchFamily="34" charset="-122"/>
                <a:cs typeface="Georgia" pitchFamily="34" charset="-120"/>
              </a:rPr>
              <a:t>04</a:t>
            </a:r>
            <a:endParaRPr lang="en-US" sz="2000" dirty="0"/>
          </a:p>
        </p:txBody>
      </p:sp>
      <p:sp>
        <p:nvSpPr>
          <p:cNvPr id="22" name="Text 20"/>
          <p:cNvSpPr/>
          <p:nvPr/>
        </p:nvSpPr>
        <p:spPr>
          <a:xfrm>
            <a:off x="4892040" y="3474720"/>
            <a:ext cx="3657600" cy="329184"/>
          </a:xfrm>
          <a:prstGeom prst="rect">
            <a:avLst/>
          </a:prstGeom>
          <a:noFill/>
          <a:ln/>
        </p:spPr>
        <p:txBody>
          <a:bodyPr wrap="square" rtlCol="0" anchor="ctr"/>
          <a:lstStyle/>
          <a:p>
            <a:pPr marL="0" indent="0">
              <a:buNone/>
            </a:pPr>
            <a:r>
              <a:rPr lang="en-US" sz="1300" b="1" dirty="0">
                <a:solidFill>
                  <a:srgbClr val="111111"/>
                </a:solidFill>
              </a:rPr>
              <a:t>Textbook Marketplace</a:t>
            </a:r>
            <a:endParaRPr lang="en-US" sz="1300" dirty="0"/>
          </a:p>
        </p:txBody>
      </p:sp>
      <p:sp>
        <p:nvSpPr>
          <p:cNvPr id="23" name="Text 21"/>
          <p:cNvSpPr/>
          <p:nvPr/>
        </p:nvSpPr>
        <p:spPr>
          <a:xfrm>
            <a:off x="4892040" y="3785616"/>
            <a:ext cx="3657600" cy="548640"/>
          </a:xfrm>
          <a:prstGeom prst="rect">
            <a:avLst/>
          </a:prstGeom>
          <a:noFill/>
          <a:ln/>
        </p:spPr>
        <p:txBody>
          <a:bodyPr wrap="square" rtlCol="0" anchor="ctr"/>
          <a:lstStyle/>
          <a:p>
            <a:pPr marL="0" indent="0">
              <a:buNone/>
            </a:pPr>
            <a:r>
              <a:rPr lang="en-US" sz="1050" dirty="0">
                <a:solidFill>
                  <a:srgbClr val="6B7280"/>
                </a:solidFill>
              </a:rPr>
              <a:t>Buy and sell textbooks with verified classmates. Contact sellers directly via university email.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594360"/>
          </a:xfrm>
          <a:prstGeom prst="rect">
            <a:avLst/>
          </a:prstGeom>
          <a:noFill/>
          <a:ln/>
        </p:spPr>
        <p:txBody>
          <a:bodyPr wrap="square" rtlCol="0" anchor="ctr"/>
          <a:lstStyle/>
          <a:p>
            <a:pPr marL="0" indent="0">
              <a:buNone/>
            </a:pPr>
            <a:r>
              <a:rPr lang="en-US" sz="3400" b="1" dirty="0">
                <a:solidFill>
                  <a:srgbClr val="111111"/>
                </a:solidFill>
                <a:latin typeface="Georgia" pitchFamily="34" charset="0"/>
                <a:ea typeface="Georgia" pitchFamily="34" charset="-122"/>
                <a:cs typeface="Georgia" pitchFamily="34" charset="-120"/>
              </a:rPr>
              <a:t>Requirements</a:t>
            </a:r>
            <a:endParaRPr lang="en-US" sz="3400" dirty="0"/>
          </a:p>
        </p:txBody>
      </p:sp>
      <p:sp>
        <p:nvSpPr>
          <p:cNvPr id="3" name="Text 1"/>
          <p:cNvSpPr/>
          <p:nvPr/>
        </p:nvSpPr>
        <p:spPr>
          <a:xfrm>
            <a:off x="502920" y="868680"/>
            <a:ext cx="8229600" cy="347472"/>
          </a:xfrm>
          <a:prstGeom prst="rect">
            <a:avLst/>
          </a:prstGeom>
          <a:noFill/>
          <a:ln/>
        </p:spPr>
        <p:txBody>
          <a:bodyPr wrap="square" rtlCol="0" anchor="ctr"/>
          <a:lstStyle/>
          <a:p>
            <a:pPr marL="0" indent="0">
              <a:buNone/>
            </a:pPr>
            <a:r>
              <a:rPr lang="en-US" sz="1400" i="1" dirty="0">
                <a:solidFill>
                  <a:srgbClr val="6B7280"/>
                </a:solidFill>
              </a:rPr>
              <a:t>Deliverables 1 &amp; 2 — what we committed to building</a:t>
            </a:r>
            <a:endParaRPr lang="en-US" sz="1400" dirty="0"/>
          </a:p>
        </p:txBody>
      </p:sp>
      <p:sp>
        <p:nvSpPr>
          <p:cNvPr id="4" name="Shape 2"/>
          <p:cNvSpPr/>
          <p:nvPr/>
        </p:nvSpPr>
        <p:spPr>
          <a:xfrm>
            <a:off x="411480" y="1371600"/>
            <a:ext cx="4114800" cy="3474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94360" y="1508760"/>
            <a:ext cx="3749040" cy="365760"/>
          </a:xfrm>
          <a:prstGeom prst="rect">
            <a:avLst/>
          </a:prstGeom>
          <a:noFill/>
          <a:ln/>
        </p:spPr>
        <p:txBody>
          <a:bodyPr wrap="square" rtlCol="0" anchor="ctr"/>
          <a:lstStyle/>
          <a:p>
            <a:pPr marL="0" indent="0">
              <a:buNone/>
            </a:pPr>
            <a:r>
              <a:rPr lang="en-US" sz="1300" b="1" dirty="0">
                <a:solidFill>
                  <a:srgbClr val="006633"/>
                </a:solidFill>
              </a:rPr>
              <a:t>Feature Backlog</a:t>
            </a:r>
            <a:endParaRPr lang="en-US" sz="1300" dirty="0"/>
          </a:p>
        </p:txBody>
      </p:sp>
      <p:sp>
        <p:nvSpPr>
          <p:cNvPr id="6" name="Shape 4"/>
          <p:cNvSpPr/>
          <p:nvPr/>
        </p:nvSpPr>
        <p:spPr>
          <a:xfrm>
            <a:off x="594360" y="1920240"/>
            <a:ext cx="3749040" cy="566928"/>
          </a:xfrm>
          <a:prstGeom prst="rect">
            <a:avLst/>
          </a:prstGeom>
          <a:solidFill>
            <a:srgbClr val="F9FAFB"/>
          </a:solidFill>
          <a:ln w="12700">
            <a:solidFill>
              <a:srgbClr val="E5E7EB"/>
            </a:solidFill>
            <a:prstDash val="solid"/>
          </a:ln>
        </p:spPr>
        <p:txBody>
          <a:bodyPr/>
          <a:lstStyle/>
          <a:p>
            <a:endParaRPr lang="en-US"/>
          </a:p>
        </p:txBody>
      </p:sp>
      <p:sp>
        <p:nvSpPr>
          <p:cNvPr id="7" name="Text 5"/>
          <p:cNvSpPr/>
          <p:nvPr/>
        </p:nvSpPr>
        <p:spPr>
          <a:xfrm>
            <a:off x="685800" y="1975104"/>
            <a:ext cx="731520" cy="219456"/>
          </a:xfrm>
          <a:prstGeom prst="rect">
            <a:avLst/>
          </a:prstGeom>
          <a:noFill/>
          <a:ln/>
        </p:spPr>
        <p:txBody>
          <a:bodyPr wrap="square" rtlCol="0" anchor="ctr"/>
          <a:lstStyle/>
          <a:p>
            <a:pPr marL="0" indent="0">
              <a:buNone/>
            </a:pPr>
            <a:r>
              <a:rPr lang="en-US" sz="800" b="1" dirty="0">
                <a:solidFill>
                  <a:srgbClr val="006633"/>
                </a:solidFill>
              </a:rPr>
              <a:t>#1 HIGH</a:t>
            </a:r>
            <a:endParaRPr lang="en-US" sz="800" dirty="0"/>
          </a:p>
        </p:txBody>
      </p:sp>
      <p:sp>
        <p:nvSpPr>
          <p:cNvPr id="8" name="Text 6"/>
          <p:cNvSpPr/>
          <p:nvPr/>
        </p:nvSpPr>
        <p:spPr>
          <a:xfrm>
            <a:off x="685800" y="2167128"/>
            <a:ext cx="2834640" cy="237744"/>
          </a:xfrm>
          <a:prstGeom prst="rect">
            <a:avLst/>
          </a:prstGeom>
          <a:noFill/>
          <a:ln/>
        </p:spPr>
        <p:txBody>
          <a:bodyPr wrap="square" rtlCol="0" anchor="ctr"/>
          <a:lstStyle/>
          <a:p>
            <a:pPr marL="0" indent="0">
              <a:buNone/>
            </a:pPr>
            <a:r>
              <a:rPr lang="en-US" sz="1100" dirty="0">
                <a:solidFill>
                  <a:srgbClr val="111111"/>
                </a:solidFill>
              </a:rPr>
              <a:t>Authentication &amp; Student Profiles</a:t>
            </a:r>
            <a:endParaRPr lang="en-US" sz="1100" dirty="0"/>
          </a:p>
        </p:txBody>
      </p:sp>
      <p:sp>
        <p:nvSpPr>
          <p:cNvPr id="9" name="Text 7"/>
          <p:cNvSpPr/>
          <p:nvPr/>
        </p:nvSpPr>
        <p:spPr>
          <a:xfrm>
            <a:off x="3200400" y="1975104"/>
            <a:ext cx="914400" cy="219456"/>
          </a:xfrm>
          <a:prstGeom prst="rect">
            <a:avLst/>
          </a:prstGeom>
          <a:noFill/>
          <a:ln/>
        </p:spPr>
        <p:txBody>
          <a:bodyPr wrap="square" rtlCol="0" anchor="ctr"/>
          <a:lstStyle/>
          <a:p>
            <a:pPr marL="0" indent="0" algn="r">
              <a:buNone/>
            </a:pPr>
            <a:r>
              <a:rPr lang="en-US" sz="800" dirty="0">
                <a:solidFill>
                  <a:srgbClr val="6B7280"/>
                </a:solidFill>
              </a:rPr>
              <a:t>Sprint 1</a:t>
            </a:r>
            <a:endParaRPr lang="en-US" sz="800" dirty="0"/>
          </a:p>
        </p:txBody>
      </p:sp>
      <p:sp>
        <p:nvSpPr>
          <p:cNvPr id="10" name="Shape 8"/>
          <p:cNvSpPr/>
          <p:nvPr/>
        </p:nvSpPr>
        <p:spPr>
          <a:xfrm>
            <a:off x="594360" y="2606040"/>
            <a:ext cx="3749040" cy="566928"/>
          </a:xfrm>
          <a:prstGeom prst="rect">
            <a:avLst/>
          </a:prstGeom>
          <a:solidFill>
            <a:srgbClr val="F9FAFB"/>
          </a:solidFill>
          <a:ln w="12700">
            <a:solidFill>
              <a:srgbClr val="E5E7EB"/>
            </a:solidFill>
            <a:prstDash val="solid"/>
          </a:ln>
        </p:spPr>
        <p:txBody>
          <a:bodyPr/>
          <a:lstStyle/>
          <a:p>
            <a:endParaRPr lang="en-US"/>
          </a:p>
        </p:txBody>
      </p:sp>
      <p:sp>
        <p:nvSpPr>
          <p:cNvPr id="11" name="Text 9"/>
          <p:cNvSpPr/>
          <p:nvPr/>
        </p:nvSpPr>
        <p:spPr>
          <a:xfrm>
            <a:off x="685800" y="2660904"/>
            <a:ext cx="731520" cy="219456"/>
          </a:xfrm>
          <a:prstGeom prst="rect">
            <a:avLst/>
          </a:prstGeom>
          <a:noFill/>
          <a:ln/>
        </p:spPr>
        <p:txBody>
          <a:bodyPr wrap="square" rtlCol="0" anchor="ctr"/>
          <a:lstStyle/>
          <a:p>
            <a:pPr marL="0" indent="0">
              <a:buNone/>
            </a:pPr>
            <a:r>
              <a:rPr lang="en-US" sz="800" b="1" dirty="0">
                <a:solidFill>
                  <a:srgbClr val="006633"/>
                </a:solidFill>
              </a:rPr>
              <a:t>#2 HIGH</a:t>
            </a:r>
            <a:endParaRPr lang="en-US" sz="800" dirty="0"/>
          </a:p>
        </p:txBody>
      </p:sp>
      <p:sp>
        <p:nvSpPr>
          <p:cNvPr id="12" name="Text 10"/>
          <p:cNvSpPr/>
          <p:nvPr/>
        </p:nvSpPr>
        <p:spPr>
          <a:xfrm>
            <a:off x="685800" y="2852928"/>
            <a:ext cx="2834640" cy="237744"/>
          </a:xfrm>
          <a:prstGeom prst="rect">
            <a:avLst/>
          </a:prstGeom>
          <a:noFill/>
          <a:ln/>
        </p:spPr>
        <p:txBody>
          <a:bodyPr wrap="square" rtlCol="0" anchor="ctr"/>
          <a:lstStyle/>
          <a:p>
            <a:pPr marL="0" indent="0">
              <a:buNone/>
            </a:pPr>
            <a:r>
              <a:rPr lang="en-US" sz="1100" dirty="0">
                <a:solidFill>
                  <a:srgbClr val="111111"/>
                </a:solidFill>
              </a:rPr>
              <a:t>Study Group Organizer</a:t>
            </a:r>
            <a:endParaRPr lang="en-US" sz="1100" dirty="0"/>
          </a:p>
        </p:txBody>
      </p:sp>
      <p:sp>
        <p:nvSpPr>
          <p:cNvPr id="13" name="Text 11"/>
          <p:cNvSpPr/>
          <p:nvPr/>
        </p:nvSpPr>
        <p:spPr>
          <a:xfrm>
            <a:off x="3200400" y="2660904"/>
            <a:ext cx="914400" cy="219456"/>
          </a:xfrm>
          <a:prstGeom prst="rect">
            <a:avLst/>
          </a:prstGeom>
          <a:noFill/>
          <a:ln/>
        </p:spPr>
        <p:txBody>
          <a:bodyPr wrap="square" rtlCol="0" anchor="ctr"/>
          <a:lstStyle/>
          <a:p>
            <a:pPr marL="0" indent="0" algn="r">
              <a:buNone/>
            </a:pPr>
            <a:r>
              <a:rPr lang="en-US" sz="800" dirty="0">
                <a:solidFill>
                  <a:srgbClr val="6B7280"/>
                </a:solidFill>
              </a:rPr>
              <a:t>Sprint 2</a:t>
            </a:r>
            <a:endParaRPr lang="en-US" sz="800" dirty="0"/>
          </a:p>
        </p:txBody>
      </p:sp>
      <p:sp>
        <p:nvSpPr>
          <p:cNvPr id="14" name="Shape 12"/>
          <p:cNvSpPr/>
          <p:nvPr/>
        </p:nvSpPr>
        <p:spPr>
          <a:xfrm>
            <a:off x="594360" y="3291840"/>
            <a:ext cx="3749040" cy="566928"/>
          </a:xfrm>
          <a:prstGeom prst="rect">
            <a:avLst/>
          </a:prstGeom>
          <a:solidFill>
            <a:srgbClr val="F9FAFB"/>
          </a:solidFill>
          <a:ln w="12700">
            <a:solidFill>
              <a:srgbClr val="E5E7EB"/>
            </a:solidFill>
            <a:prstDash val="solid"/>
          </a:ln>
        </p:spPr>
        <p:txBody>
          <a:bodyPr/>
          <a:lstStyle/>
          <a:p>
            <a:endParaRPr lang="en-US"/>
          </a:p>
        </p:txBody>
      </p:sp>
      <p:sp>
        <p:nvSpPr>
          <p:cNvPr id="15" name="Text 13"/>
          <p:cNvSpPr/>
          <p:nvPr/>
        </p:nvSpPr>
        <p:spPr>
          <a:xfrm>
            <a:off x="685800" y="3346704"/>
            <a:ext cx="731520" cy="219456"/>
          </a:xfrm>
          <a:prstGeom prst="rect">
            <a:avLst/>
          </a:prstGeom>
          <a:noFill/>
          <a:ln/>
        </p:spPr>
        <p:txBody>
          <a:bodyPr wrap="square" rtlCol="0" anchor="ctr"/>
          <a:lstStyle/>
          <a:p>
            <a:pPr marL="0" indent="0">
              <a:buNone/>
            </a:pPr>
            <a:r>
              <a:rPr lang="en-US" sz="800" b="1" dirty="0">
                <a:solidFill>
                  <a:srgbClr val="006633"/>
                </a:solidFill>
              </a:rPr>
              <a:t>#3 MED</a:t>
            </a:r>
            <a:endParaRPr lang="en-US" sz="800" dirty="0"/>
          </a:p>
        </p:txBody>
      </p:sp>
      <p:sp>
        <p:nvSpPr>
          <p:cNvPr id="16" name="Text 14"/>
          <p:cNvSpPr/>
          <p:nvPr/>
        </p:nvSpPr>
        <p:spPr>
          <a:xfrm>
            <a:off x="685800" y="3538728"/>
            <a:ext cx="2834640" cy="237744"/>
          </a:xfrm>
          <a:prstGeom prst="rect">
            <a:avLst/>
          </a:prstGeom>
          <a:noFill/>
          <a:ln/>
        </p:spPr>
        <p:txBody>
          <a:bodyPr wrap="square" rtlCol="0" anchor="ctr"/>
          <a:lstStyle/>
          <a:p>
            <a:pPr marL="0" indent="0">
              <a:buNone/>
            </a:pPr>
            <a:r>
              <a:rPr lang="en-US" sz="1100" dirty="0">
                <a:solidFill>
                  <a:srgbClr val="111111"/>
                </a:solidFill>
              </a:rPr>
              <a:t>Campus Event Board</a:t>
            </a:r>
            <a:endParaRPr lang="en-US" sz="1100" dirty="0"/>
          </a:p>
        </p:txBody>
      </p:sp>
      <p:sp>
        <p:nvSpPr>
          <p:cNvPr id="17" name="Text 15"/>
          <p:cNvSpPr/>
          <p:nvPr/>
        </p:nvSpPr>
        <p:spPr>
          <a:xfrm>
            <a:off x="3200400" y="3346704"/>
            <a:ext cx="914400" cy="219456"/>
          </a:xfrm>
          <a:prstGeom prst="rect">
            <a:avLst/>
          </a:prstGeom>
          <a:noFill/>
          <a:ln/>
        </p:spPr>
        <p:txBody>
          <a:bodyPr wrap="square" rtlCol="0" anchor="ctr"/>
          <a:lstStyle/>
          <a:p>
            <a:pPr marL="0" indent="0" algn="r">
              <a:buNone/>
            </a:pPr>
            <a:r>
              <a:rPr lang="en-US" sz="800" dirty="0">
                <a:solidFill>
                  <a:srgbClr val="6B7280"/>
                </a:solidFill>
              </a:rPr>
              <a:t>Sprint 3</a:t>
            </a:r>
            <a:endParaRPr lang="en-US" sz="800" dirty="0"/>
          </a:p>
        </p:txBody>
      </p:sp>
      <p:sp>
        <p:nvSpPr>
          <p:cNvPr id="18" name="Shape 16"/>
          <p:cNvSpPr/>
          <p:nvPr/>
        </p:nvSpPr>
        <p:spPr>
          <a:xfrm>
            <a:off x="594360" y="3977640"/>
            <a:ext cx="3749040" cy="566928"/>
          </a:xfrm>
          <a:prstGeom prst="rect">
            <a:avLst/>
          </a:prstGeom>
          <a:solidFill>
            <a:srgbClr val="F9FAFB"/>
          </a:solidFill>
          <a:ln w="12700">
            <a:solidFill>
              <a:srgbClr val="E5E7EB"/>
            </a:solidFill>
            <a:prstDash val="solid"/>
          </a:ln>
        </p:spPr>
        <p:txBody>
          <a:bodyPr/>
          <a:lstStyle/>
          <a:p>
            <a:endParaRPr lang="en-US"/>
          </a:p>
        </p:txBody>
      </p:sp>
      <p:sp>
        <p:nvSpPr>
          <p:cNvPr id="19" name="Text 17"/>
          <p:cNvSpPr/>
          <p:nvPr/>
        </p:nvSpPr>
        <p:spPr>
          <a:xfrm>
            <a:off x="685800" y="4032504"/>
            <a:ext cx="731520" cy="219456"/>
          </a:xfrm>
          <a:prstGeom prst="rect">
            <a:avLst/>
          </a:prstGeom>
          <a:noFill/>
          <a:ln/>
        </p:spPr>
        <p:txBody>
          <a:bodyPr wrap="square" rtlCol="0" anchor="ctr"/>
          <a:lstStyle/>
          <a:p>
            <a:pPr marL="0" indent="0">
              <a:buNone/>
            </a:pPr>
            <a:r>
              <a:rPr lang="en-US" sz="800" b="1" dirty="0">
                <a:solidFill>
                  <a:srgbClr val="006633"/>
                </a:solidFill>
              </a:rPr>
              <a:t>#4 MED</a:t>
            </a:r>
            <a:endParaRPr lang="en-US" sz="800" dirty="0"/>
          </a:p>
        </p:txBody>
      </p:sp>
      <p:sp>
        <p:nvSpPr>
          <p:cNvPr id="20" name="Text 18"/>
          <p:cNvSpPr/>
          <p:nvPr/>
        </p:nvSpPr>
        <p:spPr>
          <a:xfrm>
            <a:off x="685800" y="4224528"/>
            <a:ext cx="2834640" cy="237744"/>
          </a:xfrm>
          <a:prstGeom prst="rect">
            <a:avLst/>
          </a:prstGeom>
          <a:noFill/>
          <a:ln/>
        </p:spPr>
        <p:txBody>
          <a:bodyPr wrap="square" rtlCol="0" anchor="ctr"/>
          <a:lstStyle/>
          <a:p>
            <a:pPr marL="0" indent="0">
              <a:buNone/>
            </a:pPr>
            <a:r>
              <a:rPr lang="en-US" sz="1100" dirty="0">
                <a:solidFill>
                  <a:srgbClr val="111111"/>
                </a:solidFill>
              </a:rPr>
              <a:t>Textbook Exchange Marketplace</a:t>
            </a:r>
            <a:endParaRPr lang="en-US" sz="1100" dirty="0"/>
          </a:p>
        </p:txBody>
      </p:sp>
      <p:sp>
        <p:nvSpPr>
          <p:cNvPr id="21" name="Text 19"/>
          <p:cNvSpPr/>
          <p:nvPr/>
        </p:nvSpPr>
        <p:spPr>
          <a:xfrm>
            <a:off x="3200400" y="4032504"/>
            <a:ext cx="914400" cy="219456"/>
          </a:xfrm>
          <a:prstGeom prst="rect">
            <a:avLst/>
          </a:prstGeom>
          <a:noFill/>
          <a:ln/>
        </p:spPr>
        <p:txBody>
          <a:bodyPr wrap="square" rtlCol="0" anchor="ctr"/>
          <a:lstStyle/>
          <a:p>
            <a:pPr marL="0" indent="0" algn="r">
              <a:buNone/>
            </a:pPr>
            <a:r>
              <a:rPr lang="en-US" sz="800" dirty="0">
                <a:solidFill>
                  <a:srgbClr val="6B7280"/>
                </a:solidFill>
              </a:rPr>
              <a:t>Sprint 3</a:t>
            </a:r>
            <a:endParaRPr lang="en-US" sz="800" dirty="0"/>
          </a:p>
        </p:txBody>
      </p:sp>
      <p:sp>
        <p:nvSpPr>
          <p:cNvPr id="22" name="Shape 20"/>
          <p:cNvSpPr/>
          <p:nvPr/>
        </p:nvSpPr>
        <p:spPr>
          <a:xfrm>
            <a:off x="4663440" y="1371600"/>
            <a:ext cx="4069080" cy="3474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3" name="Text 21"/>
          <p:cNvSpPr/>
          <p:nvPr/>
        </p:nvSpPr>
        <p:spPr>
          <a:xfrm>
            <a:off x="4846320" y="1508760"/>
            <a:ext cx="3749040" cy="365760"/>
          </a:xfrm>
          <a:prstGeom prst="rect">
            <a:avLst/>
          </a:prstGeom>
          <a:noFill/>
          <a:ln/>
        </p:spPr>
        <p:txBody>
          <a:bodyPr wrap="square" rtlCol="0" anchor="ctr"/>
          <a:lstStyle/>
          <a:p>
            <a:pPr marL="0" indent="0">
              <a:buNone/>
            </a:pPr>
            <a:r>
              <a:rPr lang="en-US" sz="1300" b="1" dirty="0">
                <a:solidFill>
                  <a:srgbClr val="006633"/>
                </a:solidFill>
              </a:rPr>
              <a:t>5 User Stories (Feature 1)</a:t>
            </a:r>
            <a:endParaRPr lang="en-US" sz="1300" dirty="0"/>
          </a:p>
        </p:txBody>
      </p:sp>
      <p:sp>
        <p:nvSpPr>
          <p:cNvPr id="24" name="Text 22"/>
          <p:cNvSpPr/>
          <p:nvPr/>
        </p:nvSpPr>
        <p:spPr>
          <a:xfrm>
            <a:off x="4846320" y="1965960"/>
            <a:ext cx="274320" cy="365760"/>
          </a:xfrm>
          <a:prstGeom prst="rect">
            <a:avLst/>
          </a:prstGeom>
          <a:noFill/>
          <a:ln/>
        </p:spPr>
        <p:txBody>
          <a:bodyPr wrap="square" rtlCol="0" anchor="ctr"/>
          <a:lstStyle/>
          <a:p>
            <a:pPr marL="0" indent="0">
              <a:buNone/>
            </a:pPr>
            <a:r>
              <a:rPr lang="en-US" sz="1300" dirty="0">
                <a:solidFill>
                  <a:srgbClr val="006633"/>
                </a:solidFill>
              </a:rPr>
              <a:t>→</a:t>
            </a:r>
            <a:endParaRPr lang="en-US" sz="1300" dirty="0"/>
          </a:p>
        </p:txBody>
      </p:sp>
      <p:sp>
        <p:nvSpPr>
          <p:cNvPr id="25" name="Text 23"/>
          <p:cNvSpPr/>
          <p:nvPr/>
        </p:nvSpPr>
        <p:spPr>
          <a:xfrm>
            <a:off x="5074920" y="1965960"/>
            <a:ext cx="777240" cy="201168"/>
          </a:xfrm>
          <a:prstGeom prst="rect">
            <a:avLst/>
          </a:prstGeom>
          <a:noFill/>
          <a:ln/>
        </p:spPr>
        <p:txBody>
          <a:bodyPr wrap="square" rtlCol="0" anchor="ctr"/>
          <a:lstStyle/>
          <a:p>
            <a:pPr marL="0" indent="0">
              <a:buNone/>
            </a:pPr>
            <a:r>
              <a:rPr lang="en-US" sz="1000" b="1" dirty="0">
                <a:solidFill>
                  <a:srgbClr val="111111"/>
                </a:solidFill>
              </a:rPr>
              <a:t>Shayan:</a:t>
            </a:r>
            <a:endParaRPr lang="en-US" sz="1000" dirty="0"/>
          </a:p>
        </p:txBody>
      </p:sp>
      <p:sp>
        <p:nvSpPr>
          <p:cNvPr id="26" name="Text 24"/>
          <p:cNvSpPr/>
          <p:nvPr/>
        </p:nvSpPr>
        <p:spPr>
          <a:xfrm>
            <a:off x="5074920" y="2148840"/>
            <a:ext cx="3474720" cy="256032"/>
          </a:xfrm>
          <a:prstGeom prst="rect">
            <a:avLst/>
          </a:prstGeom>
          <a:noFill/>
          <a:ln/>
        </p:spPr>
        <p:txBody>
          <a:bodyPr wrap="square" rtlCol="0" anchor="ctr"/>
          <a:lstStyle/>
          <a:p>
            <a:pPr marL="0" indent="0">
              <a:buNone/>
            </a:pPr>
            <a:r>
              <a:rPr lang="en-US" sz="1000" dirty="0">
                <a:solidFill>
                  <a:srgbClr val="6B7280"/>
                </a:solidFill>
              </a:rPr>
              <a:t>Can't verify Discord users are GMU students</a:t>
            </a:r>
            <a:endParaRPr lang="en-US" sz="1000" dirty="0"/>
          </a:p>
        </p:txBody>
      </p:sp>
      <p:sp>
        <p:nvSpPr>
          <p:cNvPr id="27" name="Text 25"/>
          <p:cNvSpPr/>
          <p:nvPr/>
        </p:nvSpPr>
        <p:spPr>
          <a:xfrm>
            <a:off x="4846320" y="2532888"/>
            <a:ext cx="274320" cy="365760"/>
          </a:xfrm>
          <a:prstGeom prst="rect">
            <a:avLst/>
          </a:prstGeom>
          <a:noFill/>
          <a:ln/>
        </p:spPr>
        <p:txBody>
          <a:bodyPr wrap="square" rtlCol="0" anchor="ctr"/>
          <a:lstStyle/>
          <a:p>
            <a:pPr marL="0" indent="0">
              <a:buNone/>
            </a:pPr>
            <a:r>
              <a:rPr lang="en-US" sz="1300" dirty="0">
                <a:solidFill>
                  <a:srgbClr val="006633"/>
                </a:solidFill>
              </a:rPr>
              <a:t>→</a:t>
            </a:r>
            <a:endParaRPr lang="en-US" sz="1300" dirty="0"/>
          </a:p>
        </p:txBody>
      </p:sp>
      <p:sp>
        <p:nvSpPr>
          <p:cNvPr id="28" name="Text 26"/>
          <p:cNvSpPr/>
          <p:nvPr/>
        </p:nvSpPr>
        <p:spPr>
          <a:xfrm>
            <a:off x="5074920" y="2532888"/>
            <a:ext cx="777240" cy="201168"/>
          </a:xfrm>
          <a:prstGeom prst="rect">
            <a:avLst/>
          </a:prstGeom>
          <a:noFill/>
          <a:ln/>
        </p:spPr>
        <p:txBody>
          <a:bodyPr wrap="square" rtlCol="0" anchor="ctr"/>
          <a:lstStyle/>
          <a:p>
            <a:pPr marL="0" indent="0">
              <a:buNone/>
            </a:pPr>
            <a:r>
              <a:rPr lang="en-US" sz="1000" b="1" dirty="0">
                <a:solidFill>
                  <a:srgbClr val="111111"/>
                </a:solidFill>
              </a:rPr>
              <a:t>Noe:</a:t>
            </a:r>
            <a:endParaRPr lang="en-US" sz="1000" dirty="0"/>
          </a:p>
        </p:txBody>
      </p:sp>
      <p:sp>
        <p:nvSpPr>
          <p:cNvPr id="29" name="Text 27"/>
          <p:cNvSpPr/>
          <p:nvPr/>
        </p:nvSpPr>
        <p:spPr>
          <a:xfrm>
            <a:off x="5074920" y="2715768"/>
            <a:ext cx="3474720" cy="256032"/>
          </a:xfrm>
          <a:prstGeom prst="rect">
            <a:avLst/>
          </a:prstGeom>
          <a:noFill/>
          <a:ln/>
        </p:spPr>
        <p:txBody>
          <a:bodyPr wrap="square" rtlCol="0" anchor="ctr"/>
          <a:lstStyle/>
          <a:p>
            <a:pPr marL="0" indent="0">
              <a:buNone/>
            </a:pPr>
            <a:r>
              <a:rPr lang="en-US" sz="1000" dirty="0">
                <a:solidFill>
                  <a:srgbClr val="6B7280"/>
                </a:solidFill>
              </a:rPr>
              <a:t>Facebook Marketplace has no university filter</a:t>
            </a:r>
            <a:endParaRPr lang="en-US" sz="1000" dirty="0"/>
          </a:p>
        </p:txBody>
      </p:sp>
      <p:sp>
        <p:nvSpPr>
          <p:cNvPr id="30" name="Text 28"/>
          <p:cNvSpPr/>
          <p:nvPr/>
        </p:nvSpPr>
        <p:spPr>
          <a:xfrm>
            <a:off x="4846320" y="3099816"/>
            <a:ext cx="274320" cy="365760"/>
          </a:xfrm>
          <a:prstGeom prst="rect">
            <a:avLst/>
          </a:prstGeom>
          <a:noFill/>
          <a:ln/>
        </p:spPr>
        <p:txBody>
          <a:bodyPr wrap="square" rtlCol="0" anchor="ctr"/>
          <a:lstStyle/>
          <a:p>
            <a:pPr marL="0" indent="0">
              <a:buNone/>
            </a:pPr>
            <a:r>
              <a:rPr lang="en-US" sz="1300" dirty="0">
                <a:solidFill>
                  <a:srgbClr val="006633"/>
                </a:solidFill>
              </a:rPr>
              <a:t>→</a:t>
            </a:r>
            <a:endParaRPr lang="en-US" sz="1300" dirty="0"/>
          </a:p>
        </p:txBody>
      </p:sp>
      <p:sp>
        <p:nvSpPr>
          <p:cNvPr id="31" name="Text 29"/>
          <p:cNvSpPr/>
          <p:nvPr/>
        </p:nvSpPr>
        <p:spPr>
          <a:xfrm>
            <a:off x="5074920" y="3099816"/>
            <a:ext cx="777240" cy="201168"/>
          </a:xfrm>
          <a:prstGeom prst="rect">
            <a:avLst/>
          </a:prstGeom>
          <a:noFill/>
          <a:ln/>
        </p:spPr>
        <p:txBody>
          <a:bodyPr wrap="square" rtlCol="0" anchor="ctr"/>
          <a:lstStyle/>
          <a:p>
            <a:pPr marL="0" indent="0">
              <a:buNone/>
            </a:pPr>
            <a:r>
              <a:rPr lang="en-US" sz="1000" b="1" dirty="0">
                <a:solidFill>
                  <a:srgbClr val="111111"/>
                </a:solidFill>
              </a:rPr>
              <a:t>Aser:</a:t>
            </a:r>
            <a:endParaRPr lang="en-US" sz="1000" dirty="0"/>
          </a:p>
        </p:txBody>
      </p:sp>
      <p:sp>
        <p:nvSpPr>
          <p:cNvPr id="32" name="Text 30"/>
          <p:cNvSpPr/>
          <p:nvPr/>
        </p:nvSpPr>
        <p:spPr>
          <a:xfrm>
            <a:off x="5074920" y="3282696"/>
            <a:ext cx="3474720" cy="256032"/>
          </a:xfrm>
          <a:prstGeom prst="rect">
            <a:avLst/>
          </a:prstGeom>
          <a:noFill/>
          <a:ln/>
        </p:spPr>
        <p:txBody>
          <a:bodyPr wrap="square" rtlCol="0" anchor="ctr"/>
          <a:lstStyle/>
          <a:p>
            <a:pPr marL="0" indent="0">
              <a:buNone/>
            </a:pPr>
            <a:r>
              <a:rPr lang="en-US" sz="1000" dirty="0">
                <a:solidFill>
                  <a:srgbClr val="6B7280"/>
                </a:solidFill>
              </a:rPr>
              <a:t>Campus events scattered across 4 platforms</a:t>
            </a:r>
            <a:endParaRPr lang="en-US" sz="1000" dirty="0"/>
          </a:p>
        </p:txBody>
      </p:sp>
      <p:sp>
        <p:nvSpPr>
          <p:cNvPr id="33" name="Text 31"/>
          <p:cNvSpPr/>
          <p:nvPr/>
        </p:nvSpPr>
        <p:spPr>
          <a:xfrm>
            <a:off x="4846320" y="3666744"/>
            <a:ext cx="274320" cy="365760"/>
          </a:xfrm>
          <a:prstGeom prst="rect">
            <a:avLst/>
          </a:prstGeom>
          <a:noFill/>
          <a:ln/>
        </p:spPr>
        <p:txBody>
          <a:bodyPr wrap="square" rtlCol="0" anchor="ctr"/>
          <a:lstStyle/>
          <a:p>
            <a:pPr marL="0" indent="0">
              <a:buNone/>
            </a:pPr>
            <a:r>
              <a:rPr lang="en-US" sz="1300" dirty="0">
                <a:solidFill>
                  <a:srgbClr val="006633"/>
                </a:solidFill>
              </a:rPr>
              <a:t>→</a:t>
            </a:r>
            <a:endParaRPr lang="en-US" sz="1300" dirty="0"/>
          </a:p>
        </p:txBody>
      </p:sp>
      <p:sp>
        <p:nvSpPr>
          <p:cNvPr id="34" name="Text 32"/>
          <p:cNvSpPr/>
          <p:nvPr/>
        </p:nvSpPr>
        <p:spPr>
          <a:xfrm>
            <a:off x="5074920" y="3666744"/>
            <a:ext cx="777240" cy="201168"/>
          </a:xfrm>
          <a:prstGeom prst="rect">
            <a:avLst/>
          </a:prstGeom>
          <a:noFill/>
          <a:ln/>
        </p:spPr>
        <p:txBody>
          <a:bodyPr wrap="square" rtlCol="0" anchor="ctr"/>
          <a:lstStyle/>
          <a:p>
            <a:pPr marL="0" indent="0">
              <a:buNone/>
            </a:pPr>
            <a:r>
              <a:rPr lang="en-US" sz="1000" b="1" dirty="0">
                <a:solidFill>
                  <a:srgbClr val="111111"/>
                </a:solidFill>
              </a:rPr>
              <a:t>Enoch:</a:t>
            </a:r>
            <a:endParaRPr lang="en-US" sz="1000" dirty="0"/>
          </a:p>
        </p:txBody>
      </p:sp>
      <p:sp>
        <p:nvSpPr>
          <p:cNvPr id="35" name="Text 33"/>
          <p:cNvSpPr/>
          <p:nvPr/>
        </p:nvSpPr>
        <p:spPr>
          <a:xfrm>
            <a:off x="5074920" y="3849624"/>
            <a:ext cx="3474720" cy="256032"/>
          </a:xfrm>
          <a:prstGeom prst="rect">
            <a:avLst/>
          </a:prstGeom>
          <a:noFill/>
          <a:ln/>
        </p:spPr>
        <p:txBody>
          <a:bodyPr wrap="square" rtlCol="0" anchor="ctr"/>
          <a:lstStyle/>
          <a:p>
            <a:pPr marL="0" indent="0">
              <a:buNone/>
            </a:pPr>
            <a:r>
              <a:rPr lang="en-US" sz="1000" dirty="0">
                <a:solidFill>
                  <a:srgbClr val="6B7280"/>
                </a:solidFill>
              </a:rPr>
              <a:t>No way to find classmates selling textbooks</a:t>
            </a:r>
            <a:endParaRPr lang="en-US" sz="1000" dirty="0"/>
          </a:p>
        </p:txBody>
      </p:sp>
      <p:sp>
        <p:nvSpPr>
          <p:cNvPr id="36" name="Text 34"/>
          <p:cNvSpPr/>
          <p:nvPr/>
        </p:nvSpPr>
        <p:spPr>
          <a:xfrm>
            <a:off x="4846320" y="4233672"/>
            <a:ext cx="274320" cy="365760"/>
          </a:xfrm>
          <a:prstGeom prst="rect">
            <a:avLst/>
          </a:prstGeom>
          <a:noFill/>
          <a:ln/>
        </p:spPr>
        <p:txBody>
          <a:bodyPr wrap="square" rtlCol="0" anchor="ctr"/>
          <a:lstStyle/>
          <a:p>
            <a:pPr marL="0" indent="0">
              <a:buNone/>
            </a:pPr>
            <a:r>
              <a:rPr lang="en-US" sz="1300" dirty="0">
                <a:solidFill>
                  <a:srgbClr val="006633"/>
                </a:solidFill>
              </a:rPr>
              <a:t>→</a:t>
            </a:r>
            <a:endParaRPr lang="en-US" sz="1300" dirty="0"/>
          </a:p>
        </p:txBody>
      </p:sp>
      <p:sp>
        <p:nvSpPr>
          <p:cNvPr id="37" name="Text 35"/>
          <p:cNvSpPr/>
          <p:nvPr/>
        </p:nvSpPr>
        <p:spPr>
          <a:xfrm>
            <a:off x="5074920" y="4233672"/>
            <a:ext cx="777240" cy="201168"/>
          </a:xfrm>
          <a:prstGeom prst="rect">
            <a:avLst/>
          </a:prstGeom>
          <a:noFill/>
          <a:ln/>
        </p:spPr>
        <p:txBody>
          <a:bodyPr wrap="square" rtlCol="0" anchor="ctr"/>
          <a:lstStyle/>
          <a:p>
            <a:pPr marL="0" indent="0">
              <a:buNone/>
            </a:pPr>
            <a:r>
              <a:rPr lang="en-US" sz="1000" b="1" dirty="0">
                <a:solidFill>
                  <a:srgbClr val="111111"/>
                </a:solidFill>
              </a:rPr>
              <a:t>Kayla:</a:t>
            </a:r>
            <a:endParaRPr lang="en-US" sz="1000" dirty="0"/>
          </a:p>
        </p:txBody>
      </p:sp>
      <p:sp>
        <p:nvSpPr>
          <p:cNvPr id="38" name="Text 36"/>
          <p:cNvSpPr/>
          <p:nvPr/>
        </p:nvSpPr>
        <p:spPr>
          <a:xfrm>
            <a:off x="5074920" y="4416552"/>
            <a:ext cx="3474720" cy="256032"/>
          </a:xfrm>
          <a:prstGeom prst="rect">
            <a:avLst/>
          </a:prstGeom>
          <a:noFill/>
          <a:ln/>
        </p:spPr>
        <p:txBody>
          <a:bodyPr wrap="square" rtlCol="0" anchor="ctr"/>
          <a:lstStyle/>
          <a:p>
            <a:pPr marL="0" indent="0">
              <a:buNone/>
            </a:pPr>
            <a:r>
              <a:rPr lang="en-US" sz="1000" dirty="0">
                <a:solidFill>
                  <a:srgbClr val="6B7280"/>
                </a:solidFill>
              </a:rPr>
              <a:t>Bots invade student Discord servers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Live Demo — Authentication</a:t>
            </a:r>
            <a:endParaRPr lang="en-US" sz="3000" dirty="0"/>
          </a:p>
        </p:txBody>
      </p:sp>
      <p:sp>
        <p:nvSpPr>
          <p:cNvPr id="3" name="Text 1"/>
          <p:cNvSpPr/>
          <p:nvPr/>
        </p:nvSpPr>
        <p:spPr>
          <a:xfrm>
            <a:off x="502920" y="804672"/>
            <a:ext cx="8229600" cy="320040"/>
          </a:xfrm>
          <a:prstGeom prst="rect">
            <a:avLst/>
          </a:prstGeom>
          <a:noFill/>
          <a:ln/>
        </p:spPr>
        <p:txBody>
          <a:bodyPr wrap="square" rtlCol="0" anchor="ctr"/>
          <a:lstStyle/>
          <a:p>
            <a:pPr marL="0" indent="0">
              <a:buNone/>
            </a:pPr>
            <a:r>
              <a:rPr lang="en-US" sz="1300" i="1" dirty="0">
                <a:solidFill>
                  <a:srgbClr val="6B7280"/>
                </a:solidFill>
              </a:rPr>
              <a:t>University email detection + per-university theming</a:t>
            </a:r>
            <a:endParaRPr lang="en-US" sz="1300" dirty="0"/>
          </a:p>
        </p:txBody>
      </p:sp>
      <p:pic>
        <p:nvPicPr>
          <p:cNvPr id="4" name="Image 0" descr="/home/claude/ss_login1.png"/>
          <p:cNvPicPr>
            <a:picLocks noChangeAspect="1"/>
          </p:cNvPicPr>
          <p:nvPr/>
        </p:nvPicPr>
        <p:blipFill>
          <a:blip r:embed="rId3"/>
          <a:stretch>
            <a:fillRect/>
          </a:stretch>
        </p:blipFill>
        <p:spPr>
          <a:xfrm>
            <a:off x="411480" y="1188720"/>
            <a:ext cx="4114800" cy="2834640"/>
          </a:xfrm>
          <a:prstGeom prst="rect">
            <a:avLst/>
          </a:prstGeom>
          <a:effectLst>
            <a:outerShdw blurRad="101600" dist="38100" dir="8100000" algn="bl" rotWithShape="0">
              <a:srgbClr val="000000">
                <a:alpha val="12000"/>
              </a:srgbClr>
            </a:outerShdw>
          </a:effectLst>
        </p:spPr>
      </p:pic>
      <p:pic>
        <p:nvPicPr>
          <p:cNvPr id="5" name="Image 1" descr="/home/claude/ss_login2.png"/>
          <p:cNvPicPr>
            <a:picLocks noChangeAspect="1"/>
          </p:cNvPicPr>
          <p:nvPr/>
        </p:nvPicPr>
        <p:blipFill>
          <a:blip r:embed="rId4"/>
          <a:stretch>
            <a:fillRect/>
          </a:stretch>
        </p:blipFill>
        <p:spPr>
          <a:xfrm>
            <a:off x="4709160" y="1188720"/>
            <a:ext cx="4114800" cy="2834640"/>
          </a:xfrm>
          <a:prstGeom prst="rect">
            <a:avLst/>
          </a:prstGeom>
          <a:effectLst>
            <a:outerShdw blurRad="101600" dist="38100" dir="8100000" algn="bl" rotWithShape="0">
              <a:srgbClr val="000000">
                <a:alpha val="12000"/>
              </a:srgbClr>
            </a:outerShdw>
          </a:effectLst>
        </p:spPr>
      </p:pic>
      <p:sp>
        <p:nvSpPr>
          <p:cNvPr id="6" name="Text 2"/>
          <p:cNvSpPr/>
          <p:nvPr/>
        </p:nvSpPr>
        <p:spPr>
          <a:xfrm>
            <a:off x="411480" y="4069080"/>
            <a:ext cx="4114800" cy="274320"/>
          </a:xfrm>
          <a:prstGeom prst="rect">
            <a:avLst/>
          </a:prstGeom>
          <a:noFill/>
          <a:ln/>
        </p:spPr>
        <p:txBody>
          <a:bodyPr wrap="square" rtlCol="0" anchor="ctr"/>
          <a:lstStyle/>
          <a:p>
            <a:pPr marL="0" indent="0" algn="ctr">
              <a:buNone/>
            </a:pPr>
            <a:r>
              <a:rPr lang="en-US" sz="1000" i="1" dirty="0">
                <a:solidFill>
                  <a:srgbClr val="6B7280"/>
                </a:solidFill>
              </a:rPr>
              <a:t>Default — no email typed</a:t>
            </a:r>
            <a:endParaRPr lang="en-US" sz="1000" dirty="0"/>
          </a:p>
        </p:txBody>
      </p:sp>
      <p:sp>
        <p:nvSpPr>
          <p:cNvPr id="7" name="Text 3"/>
          <p:cNvSpPr/>
          <p:nvPr/>
        </p:nvSpPr>
        <p:spPr>
          <a:xfrm>
            <a:off x="4709160" y="4069080"/>
            <a:ext cx="4114800" cy="274320"/>
          </a:xfrm>
          <a:prstGeom prst="rect">
            <a:avLst/>
          </a:prstGeom>
          <a:noFill/>
          <a:ln/>
        </p:spPr>
        <p:txBody>
          <a:bodyPr wrap="square" rtlCol="0" anchor="ctr"/>
          <a:lstStyle/>
          <a:p>
            <a:pPr marL="0" indent="0" algn="ctr">
              <a:buNone/>
            </a:pPr>
            <a:r>
              <a:rPr lang="en-US" sz="1000" b="1" i="1" dirty="0">
                <a:solidFill>
                  <a:srgbClr val="006633"/>
                </a:solidFill>
              </a:rPr>
              <a:t>@gmu.edu detected → GMU green theme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54864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Live Demo — Dashboard</a:t>
            </a:r>
            <a:endParaRPr lang="en-US" sz="3000" dirty="0"/>
          </a:p>
        </p:txBody>
      </p:sp>
      <p:pic>
        <p:nvPicPr>
          <p:cNvPr id="3" name="Image 0" descr="/home/claude/ss_dashboard.png"/>
          <p:cNvPicPr>
            <a:picLocks noChangeAspect="1"/>
          </p:cNvPicPr>
          <p:nvPr/>
        </p:nvPicPr>
        <p:blipFill>
          <a:blip r:embed="rId3"/>
          <a:stretch>
            <a:fillRect/>
          </a:stretch>
        </p:blipFill>
        <p:spPr>
          <a:xfrm>
            <a:off x="411480" y="1005840"/>
            <a:ext cx="4022640" cy="2200000"/>
          </a:xfrm>
          <a:prstGeom prst="rect">
            <a:avLst/>
          </a:prstGeom>
          <a:effectLst>
            <a:outerShdw blurRad="101600" dist="38100" dir="8100000" algn="bl" rotWithShape="0">
              <a:srgbClr val="000000">
                <a:alpha val="12000"/>
              </a:srgbClr>
            </a:outerShdw>
          </a:effectLst>
        </p:spPr>
      </p:pic>
      <p:pic>
        <p:nvPicPr>
          <p:cNvPr id="10" name="Image Profile Setup"/>
          <p:cNvPicPr>
            <a:picLocks noChangeAspect="1"/>
          </p:cNvPicPr>
          <p:nvPr/>
        </p:nvPicPr>
        <p:blipFill>
          <a:blip r:embed="rId5"/>
          <a:stretch>
            <a:fillRect/>
          </a:stretch>
        </p:blipFill>
        <p:spPr>
          <a:xfrm>
            <a:off x="4572000" y="1005840"/>
            <a:ext cx="4160880" cy="2200000"/>
          </a:xfrm>
          <a:prstGeom prst="rect">
            <a:avLst/>
          </a:prstGeom>
          <a:effectLst>
            <a:outerShdw blurRad="101600" dist="38100" dir="8100000" algn="bl" rotWithShape="0">
              <a:srgbClr val="000000">
                <a:alpha val="12000"/>
              </a:srgbClr>
            </a:outerShdw>
          </a:effectLst>
        </p:spPr>
      </p:pic>
      <p:sp>
        <p:nvSpPr>
          <p:cNvPr id="4" name="Text 1"/>
          <p:cNvSpPr/>
          <p:nvPr/>
        </p:nvSpPr>
        <p:spPr>
          <a:xfrm>
            <a:off x="411480" y="4840000"/>
            <a:ext cx="2651760" cy="502920"/>
          </a:xfrm>
          <a:prstGeom prst="rect">
            <a:avLst/>
          </a:prstGeom>
          <a:noFill/>
          <a:ln/>
        </p:spPr>
        <p:txBody>
          <a:bodyPr wrap="square" rtlCol="0" anchor="ctr"/>
          <a:lstStyle/>
          <a:p>
            <a:pPr marL="0" indent="0" algn="ctr">
              <a:buNone/>
            </a:pPr>
            <a:r>
              <a:rPr lang="en-US" sz="1000" i="1" dirty="0">
                <a:solidFill>
                  <a:srgbClr val="6B7280"/>
                </a:solidFill>
              </a:rPr>
              <a:t>Profile with university badge + major/year tags</a:t>
            </a:r>
            <a:endParaRPr lang="en-US" sz="1000" dirty="0"/>
          </a:p>
        </p:txBody>
      </p:sp>
      <p:sp>
        <p:nvSpPr>
          <p:cNvPr id="5" name="Text 2"/>
          <p:cNvSpPr/>
          <p:nvPr/>
        </p:nvSpPr>
        <p:spPr>
          <a:xfrm>
            <a:off x="3108960" y="4840000"/>
            <a:ext cx="2651760" cy="502920"/>
          </a:xfrm>
          <a:prstGeom prst="rect">
            <a:avLst/>
          </a:prstGeom>
          <a:noFill/>
          <a:ln/>
        </p:spPr>
        <p:txBody>
          <a:bodyPr wrap="square" rtlCol="0" anchor="ctr"/>
          <a:lstStyle/>
          <a:p>
            <a:pPr marL="0" indent="0" algn="ctr">
              <a:buNone/>
            </a:pPr>
            <a:r>
              <a:rPr lang="en-US" sz="1000" i="1" dirty="0">
                <a:solidFill>
                  <a:srgbClr val="6B7280"/>
                </a:solidFill>
              </a:rPr>
              <a:t>3 live features — all clickable from dashboard</a:t>
            </a:r>
            <a:endParaRPr lang="en-US" sz="1000" dirty="0"/>
          </a:p>
        </p:txBody>
      </p:sp>
      <p:sp>
        <p:nvSpPr>
          <p:cNvPr id="6" name="Text 3"/>
          <p:cNvSpPr/>
          <p:nvPr/>
        </p:nvSpPr>
        <p:spPr>
          <a:xfrm>
            <a:off x="5943600" y="4840000"/>
            <a:ext cx="2651760" cy="502920"/>
          </a:xfrm>
          <a:prstGeom prst="rect">
            <a:avLst/>
          </a:prstGeom>
          <a:noFill/>
          <a:ln/>
        </p:spPr>
        <p:txBody>
          <a:bodyPr wrap="square" rtlCol="0" anchor="ctr"/>
          <a:lstStyle/>
          <a:p>
            <a:pPr marL="0" indent="0" algn="ctr">
              <a:buNone/>
            </a:pPr>
            <a:r>
              <a:rPr lang="en-US" sz="1000" i="1" dirty="0">
                <a:solidFill>
                  <a:srgbClr val="6B7280"/>
                </a:solidFill>
              </a:rPr>
              <a:t>Per-university color theming applied everywhere</a:t>
            </a:r>
            <a:endParaRPr lang="en-US" sz="1000" dirty="0"/>
          </a:p>
        </p:txBody>
      </p:sp>
      <p:pic>
        <p:nvPicPr>
          <p:cNvPr id="11" name="Image Study Group Modal"/>
          <p:cNvPicPr>
            <a:picLocks noChangeAspect="1"/>
          </p:cNvPicPr>
          <p:nvPr/>
        </p:nvPicPr>
        <p:blipFill>
          <a:blip r:embed="rId6"/>
          <a:stretch>
            <a:fillRect/>
          </a:stretch>
        </p:blipFill>
        <p:spPr>
          <a:xfrm>
            <a:off x="2286000" y="3292000"/>
            <a:ext cx="4160880" cy="1500000"/>
          </a:xfrm>
          <a:prstGeom prst="rect">
            <a:avLst/>
          </a:prstGeom>
          <a:effectLst>
            <a:outerShdw blurRad="101600" dist="38100" dir="8100000" algn="bl" rotWithShape="0">
              <a:srgbClr val="000000">
                <a:alpha val="12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Live Demo — Textbook Marketplace</a:t>
            </a:r>
            <a:endParaRPr lang="en-US" sz="3000" dirty="0"/>
          </a:p>
        </p:txBody>
      </p:sp>
      <p:sp>
        <p:nvSpPr>
          <p:cNvPr id="3" name="Text 1"/>
          <p:cNvSpPr/>
          <p:nvPr/>
        </p:nvSpPr>
        <p:spPr>
          <a:xfrm>
            <a:off x="502920" y="804672"/>
            <a:ext cx="8229600" cy="320040"/>
          </a:xfrm>
          <a:prstGeom prst="rect">
            <a:avLst/>
          </a:prstGeom>
          <a:noFill/>
          <a:ln/>
        </p:spPr>
        <p:txBody>
          <a:bodyPr wrap="square" rtlCol="0" anchor="ctr"/>
          <a:lstStyle/>
          <a:p>
            <a:pPr marL="0" indent="0">
              <a:buNone/>
            </a:pPr>
            <a:r>
              <a:rPr lang="en-US" sz="1200" i="1" dirty="0">
                <a:solidFill>
                  <a:srgbClr val="6B7280"/>
                </a:solidFill>
              </a:rPr>
              <a:t>Search · filter by condition · sort by price · contact seller via university email</a:t>
            </a:r>
            <a:endParaRPr lang="en-US" sz="1200" dirty="0"/>
          </a:p>
        </p:txBody>
      </p:sp>
      <p:pic>
        <p:nvPicPr>
          <p:cNvPr id="4" name="Image 0" descr="/home/claude/ss_textbook.png"/>
          <p:cNvPicPr>
            <a:picLocks noChangeAspect="1"/>
          </p:cNvPicPr>
          <p:nvPr/>
        </p:nvPicPr>
        <p:blipFill>
          <a:blip r:embed="rId3"/>
          <a:stretch>
            <a:fillRect/>
          </a:stretch>
        </p:blipFill>
        <p:spPr>
          <a:xfrm>
            <a:off x="411480" y="1188720"/>
            <a:ext cx="4022640" cy="3200400"/>
          </a:xfrm>
          <a:prstGeom prst="rect">
            <a:avLst/>
          </a:prstGeom>
          <a:effectLst>
            <a:outerShdw blurRad="101600" dist="38100" dir="8100000" algn="bl" rotWithShape="0">
              <a:srgbClr val="000000">
                <a:alpha val="12000"/>
              </a:srgbClr>
            </a:outerShdw>
          </a:effectLst>
        </p:spPr>
      </p:pic>
      <p:sp>
        <p:nvSpPr>
          <p:cNvPr id="5" name="Text 2"/>
          <p:cNvSpPr/>
          <p:nvPr/>
        </p:nvSpPr>
        <p:spPr>
          <a:xfrm>
            <a:off x="502920" y="4480560"/>
            <a:ext cx="8229600" cy="502920"/>
          </a:xfrm>
          <a:prstGeom prst="rect">
            <a:avLst/>
          </a:prstGeom>
          <a:noFill/>
          <a:ln/>
        </p:spPr>
        <p:txBody>
          <a:bodyPr wrap="square" rtlCol="0" anchor="ctr"/>
          <a:lstStyle/>
          <a:p>
            <a:pPr marL="342900" indent="-342900">
              <a:buSzPct val="100000"/>
              <a:buChar char="•"/>
            </a:pPr>
            <a:r>
              <a:rPr lang="en-US" sz="1100" dirty="0">
                <a:solidFill>
                  <a:srgbClr val="6B7280"/>
                </a:solidFill>
              </a:rPr>
              <a:t>Listings filtered to your university only</a:t>
            </a:r>
            <a:endParaRPr lang="en-US" sz="1100" dirty="0"/>
          </a:p>
          <a:p>
            <a:pPr marL="342900" indent="-342900">
              <a:buSzPct val="100000"/>
              <a:buChar char="•"/>
            </a:pPr>
            <a:r>
              <a:rPr lang="en-US" sz="1100" dirty="0">
                <a:solidFill>
                  <a:srgbClr val="6B7280"/>
                </a:solidFill>
              </a:rPr>
              <a:t>Contact Seller → copy email or open in mail app</a:t>
            </a:r>
            <a:endParaRPr lang="en-US" sz="1100" dirty="0"/>
          </a:p>
          <a:p>
            <a:pPr marL="342900" indent="-342900">
              <a:buSzPct val="100000"/>
              <a:buChar char="•"/>
            </a:pPr>
            <a:r>
              <a:rPr lang="en-US" sz="1100" dirty="0">
                <a:solidFill>
                  <a:srgbClr val="6B7280"/>
                </a:solidFill>
              </a:rPr>
              <a:t>Owners see Mark Sold + Delete buttons</a:t>
            </a:r>
            <a:endParaRPr lang="en-US" sz="1100" dirty="0"/>
          </a:p>
          <a:p>
            <a:pPr marL="342900" indent="-342900">
              <a:buSzPct val="100000"/>
              <a:buChar char="•"/>
            </a:pPr>
            <a:r>
              <a:rPr lang="en-US" sz="1100" dirty="0">
                <a:solidFill>
                  <a:srgbClr val="6B7280"/>
                </a:solidFill>
              </a:rPr>
              <a:t>Available vs Sold tabs</a:t>
            </a:r>
            <a:endParaRPr lang="en-US" sz="1100" dirty="0"/>
          </a:p>
        </p:txBody>
      </p:sp>
      <p:pic>
        <p:nvPicPr>
          <p:cNvPr id="10" name="Image Post Textbook"/>
          <p:cNvPicPr>
            <a:picLocks noChangeAspect="1"/>
          </p:cNvPicPr>
          <p:nvPr/>
        </p:nvPicPr>
        <p:blipFill>
          <a:blip r:embed="rId5"/>
          <a:stretch>
            <a:fillRect/>
          </a:stretch>
        </p:blipFill>
        <p:spPr>
          <a:xfrm>
            <a:off x="4572000" y="1188720"/>
            <a:ext cx="4160880" cy="3200400"/>
          </a:xfrm>
          <a:prstGeom prst="rect">
            <a:avLst/>
          </a:prstGeom>
          <a:effectLst>
            <a:outerShdw blurRad="101600" dist="38100" dir="8100000" algn="bl" rotWithShape="0">
              <a:srgbClr val="000000">
                <a:alpha val="12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Live Demo — Campus Events</a:t>
            </a:r>
            <a:endParaRPr lang="en-US" sz="3000" dirty="0"/>
          </a:p>
        </p:txBody>
      </p:sp>
      <p:sp>
        <p:nvSpPr>
          <p:cNvPr id="3" name="Text 1"/>
          <p:cNvSpPr/>
          <p:nvPr/>
        </p:nvSpPr>
        <p:spPr>
          <a:xfrm>
            <a:off x="502920" y="804672"/>
            <a:ext cx="8229600" cy="320040"/>
          </a:xfrm>
          <a:prstGeom prst="rect">
            <a:avLst/>
          </a:prstGeom>
          <a:noFill/>
          <a:ln/>
        </p:spPr>
        <p:txBody>
          <a:bodyPr wrap="square" rtlCol="0" anchor="ctr"/>
          <a:lstStyle/>
          <a:p>
            <a:pPr marL="0" indent="0">
              <a:buNone/>
            </a:pPr>
            <a:r>
              <a:rPr lang="en-US" sz="1200" i="1" dirty="0">
                <a:solidFill>
                  <a:srgbClr val="6B7280"/>
                </a:solidFill>
              </a:rPr>
              <a:t>Post events · RSVP · filter by All / My Events / RSVP'd · upcoming vs past split</a:t>
            </a:r>
            <a:endParaRPr lang="en-US" sz="1200" dirty="0"/>
          </a:p>
        </p:txBody>
      </p:sp>
      <p:pic>
        <p:nvPicPr>
          <p:cNvPr id="4" name="Image 0" descr="/home/claude/ss_events.png"/>
          <p:cNvPicPr>
            <a:picLocks noChangeAspect="1"/>
          </p:cNvPicPr>
          <p:nvPr/>
        </p:nvPicPr>
        <p:blipFill>
          <a:blip r:embed="rId3"/>
          <a:stretch>
            <a:fillRect/>
          </a:stretch>
        </p:blipFill>
        <p:spPr>
          <a:xfrm>
            <a:off x="411480" y="1188720"/>
            <a:ext cx="4022640" cy="2743200"/>
          </a:xfrm>
          <a:prstGeom prst="rect">
            <a:avLst/>
          </a:prstGeom>
          <a:effectLst>
            <a:outerShdw blurRad="101600" dist="38100" dir="8100000" algn="bl" rotWithShape="0">
              <a:srgbClr val="000000">
                <a:alpha val="12000"/>
              </a:srgbClr>
            </a:outerShdw>
          </a:effectLst>
        </p:spPr>
      </p:pic>
      <p:sp>
        <p:nvSpPr>
          <p:cNvPr id="5" name="Text 2"/>
          <p:cNvSpPr/>
          <p:nvPr/>
        </p:nvSpPr>
        <p:spPr>
          <a:xfrm>
            <a:off x="502920" y="4023360"/>
            <a:ext cx="8229600" cy="822960"/>
          </a:xfrm>
          <a:prstGeom prst="rect">
            <a:avLst/>
          </a:prstGeom>
          <a:noFill/>
          <a:ln/>
        </p:spPr>
        <p:txBody>
          <a:bodyPr wrap="square" rtlCol="0" anchor="ctr"/>
          <a:lstStyle/>
          <a:p>
            <a:pPr marL="342900" indent="-342900">
              <a:buSzPct val="100000"/>
              <a:buChar char="•"/>
            </a:pPr>
            <a:r>
              <a:rPr lang="en-US" sz="1100" dirty="0">
                <a:solidFill>
                  <a:srgbClr val="6B7280"/>
                </a:solidFill>
              </a:rPr>
              <a:t>All events visible to verified GMU students only</a:t>
            </a:r>
            <a:endParaRPr lang="en-US" sz="1100" dirty="0"/>
          </a:p>
          <a:p>
            <a:pPr marL="342900" indent="-342900">
              <a:buSzPct val="100000"/>
              <a:buChar char="•"/>
            </a:pPr>
            <a:r>
              <a:rPr lang="en-US" sz="1100" dirty="0">
                <a:solidFill>
                  <a:srgbClr val="6B7280"/>
                </a:solidFill>
              </a:rPr>
              <a:t>Post Event modal — title, date, time, location</a:t>
            </a:r>
            <a:endParaRPr lang="en-US" sz="1100" dirty="0"/>
          </a:p>
          <a:p>
            <a:pPr marL="342900" indent="-342900">
              <a:buSzPct val="100000"/>
              <a:buChar char="•"/>
            </a:pPr>
            <a:r>
              <a:rPr lang="en-US" sz="1100" dirty="0">
                <a:solidFill>
                  <a:srgbClr val="6B7280"/>
                </a:solidFill>
              </a:rPr>
              <a:t>RSVP toggle — shows Going / un-RSVP option</a:t>
            </a:r>
            <a:endParaRPr lang="en-US" sz="1100" dirty="0"/>
          </a:p>
          <a:p>
            <a:pPr marL="342900" indent="-342900">
              <a:buSzPct val="100000"/>
              <a:buChar char="•"/>
            </a:pPr>
            <a:r>
              <a:rPr lang="en-US" sz="1100" dirty="0">
                <a:solidFill>
                  <a:srgbClr val="6B7280"/>
                </a:solidFill>
              </a:rPr>
              <a:t>My Events filter shows only your own posts</a:t>
            </a:r>
            <a:endParaRPr lang="en-US" sz="1100" dirty="0"/>
          </a:p>
        </p:txBody>
      </p:sp>
      <p:pic>
        <p:nvPicPr>
          <p:cNvPr id="10" name="Image Post Event"/>
          <p:cNvPicPr>
            <a:picLocks noChangeAspect="1"/>
          </p:cNvPicPr>
          <p:nvPr/>
        </p:nvPicPr>
        <p:blipFill>
          <a:blip r:embed="rId5"/>
          <a:stretch>
            <a:fillRect/>
          </a:stretch>
        </p:blipFill>
        <p:spPr>
          <a:xfrm>
            <a:off x="4572000" y="1188720"/>
            <a:ext cx="4160880" cy="2743200"/>
          </a:xfrm>
          <a:prstGeom prst="rect">
            <a:avLst/>
          </a:prstGeom>
          <a:effectLst>
            <a:outerShdw blurRad="101600" dist="38100" dir="8100000" algn="bl" rotWithShape="0">
              <a:srgbClr val="000000">
                <a:alpha val="12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Design Documentation</a:t>
            </a:r>
            <a:endParaRPr lang="en-US" sz="3000" dirty="0"/>
          </a:p>
        </p:txBody>
      </p:sp>
      <p:sp>
        <p:nvSpPr>
          <p:cNvPr id="3" name="Text 1"/>
          <p:cNvSpPr/>
          <p:nvPr/>
        </p:nvSpPr>
        <p:spPr>
          <a:xfrm>
            <a:off x="502920" y="804672"/>
            <a:ext cx="8229600" cy="320040"/>
          </a:xfrm>
          <a:prstGeom prst="rect">
            <a:avLst/>
          </a:prstGeom>
          <a:noFill/>
          <a:ln/>
        </p:spPr>
        <p:txBody>
          <a:bodyPr wrap="square" rtlCol="0" anchor="ctr"/>
          <a:lstStyle/>
          <a:p>
            <a:pPr marL="0" indent="0">
              <a:buNone/>
            </a:pPr>
            <a:r>
              <a:rPr lang="en-US" sz="1200" i="1" dirty="0">
                <a:solidFill>
                  <a:srgbClr val="6B7280"/>
                </a:solidFill>
              </a:rPr>
              <a:t>20 diagrams — 4 per team member — conceptual + detailed class + 2 sequence diagrams each</a:t>
            </a:r>
            <a:endParaRPr lang="en-US" sz="1200" dirty="0"/>
          </a:p>
        </p:txBody>
      </p:sp>
      <p:sp>
        <p:nvSpPr>
          <p:cNvPr id="4" name="Shape 2"/>
          <p:cNvSpPr/>
          <p:nvPr/>
        </p:nvSpPr>
        <p:spPr>
          <a:xfrm>
            <a:off x="411480" y="1325880"/>
            <a:ext cx="8321040" cy="62179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411480" y="1325880"/>
            <a:ext cx="64008" cy="621792"/>
          </a:xfrm>
          <a:prstGeom prst="rect">
            <a:avLst/>
          </a:prstGeom>
          <a:solidFill>
            <a:srgbClr val="006633"/>
          </a:solidFill>
          <a:ln w="12700">
            <a:solidFill>
              <a:srgbClr val="006633"/>
            </a:solidFill>
            <a:prstDash val="solid"/>
          </a:ln>
        </p:spPr>
        <p:txBody>
          <a:bodyPr/>
          <a:lstStyle/>
          <a:p>
            <a:endParaRPr lang="en-US"/>
          </a:p>
        </p:txBody>
      </p:sp>
      <p:sp>
        <p:nvSpPr>
          <p:cNvPr id="6" name="Text 4"/>
          <p:cNvSpPr/>
          <p:nvPr/>
        </p:nvSpPr>
        <p:spPr>
          <a:xfrm>
            <a:off x="594360" y="1399032"/>
            <a:ext cx="2103120" cy="256032"/>
          </a:xfrm>
          <a:prstGeom prst="rect">
            <a:avLst/>
          </a:prstGeom>
          <a:noFill/>
          <a:ln/>
        </p:spPr>
        <p:txBody>
          <a:bodyPr wrap="square" rtlCol="0" anchor="ctr"/>
          <a:lstStyle/>
          <a:p>
            <a:pPr marL="0" indent="0">
              <a:buNone/>
            </a:pPr>
            <a:r>
              <a:rPr lang="en-US" sz="1100" b="1" dirty="0">
                <a:solidFill>
                  <a:srgbClr val="111111"/>
                </a:solidFill>
              </a:rPr>
              <a:t>Shayan Khan</a:t>
            </a:r>
            <a:endParaRPr lang="en-US" sz="1100" dirty="0"/>
          </a:p>
        </p:txBody>
      </p:sp>
      <p:sp>
        <p:nvSpPr>
          <p:cNvPr id="7" name="Text 5"/>
          <p:cNvSpPr/>
          <p:nvPr/>
        </p:nvSpPr>
        <p:spPr>
          <a:xfrm>
            <a:off x="594360" y="1645920"/>
            <a:ext cx="2103120" cy="219456"/>
          </a:xfrm>
          <a:prstGeom prst="rect">
            <a:avLst/>
          </a:prstGeom>
          <a:noFill/>
          <a:ln/>
        </p:spPr>
        <p:txBody>
          <a:bodyPr wrap="square" rtlCol="0" anchor="ctr"/>
          <a:lstStyle/>
          <a:p>
            <a:pPr marL="0" indent="0">
              <a:buNone/>
            </a:pPr>
            <a:r>
              <a:rPr lang="en-US" sz="1000" dirty="0">
                <a:solidFill>
                  <a:srgbClr val="006633"/>
                </a:solidFill>
              </a:rPr>
              <a:t>Auth + Dashboard</a:t>
            </a:r>
            <a:endParaRPr lang="en-US" sz="1000" dirty="0"/>
          </a:p>
        </p:txBody>
      </p:sp>
      <p:sp>
        <p:nvSpPr>
          <p:cNvPr id="8" name="Text 6"/>
          <p:cNvSpPr/>
          <p:nvPr/>
        </p:nvSpPr>
        <p:spPr>
          <a:xfrm>
            <a:off x="2834640" y="1463040"/>
            <a:ext cx="5760720" cy="347472"/>
          </a:xfrm>
          <a:prstGeom prst="rect">
            <a:avLst/>
          </a:prstGeom>
          <a:noFill/>
          <a:ln/>
        </p:spPr>
        <p:txBody>
          <a:bodyPr wrap="square" rtlCol="0" anchor="ctr"/>
          <a:lstStyle/>
          <a:p>
            <a:pPr marL="0" indent="0">
              <a:buNone/>
            </a:pPr>
            <a:r>
              <a:rPr lang="en-US" sz="1000" dirty="0">
                <a:solidFill>
                  <a:srgbClr val="6B7280"/>
                </a:solidFill>
              </a:rPr>
              <a:t>Conceptual class · Detailed class · Sign-up sequence · Login sequence</a:t>
            </a:r>
            <a:endParaRPr lang="en-US" sz="1000" dirty="0"/>
          </a:p>
        </p:txBody>
      </p:sp>
      <p:sp>
        <p:nvSpPr>
          <p:cNvPr id="9" name="Shape 7"/>
          <p:cNvSpPr/>
          <p:nvPr/>
        </p:nvSpPr>
        <p:spPr>
          <a:xfrm>
            <a:off x="411480" y="2039112"/>
            <a:ext cx="8321040" cy="62179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11480" y="2039112"/>
            <a:ext cx="64008" cy="621792"/>
          </a:xfrm>
          <a:prstGeom prst="rect">
            <a:avLst/>
          </a:prstGeom>
          <a:solidFill>
            <a:srgbClr val="006633"/>
          </a:solidFill>
          <a:ln w="12700">
            <a:solidFill>
              <a:srgbClr val="006633"/>
            </a:solidFill>
            <a:prstDash val="solid"/>
          </a:ln>
        </p:spPr>
        <p:txBody>
          <a:bodyPr/>
          <a:lstStyle/>
          <a:p>
            <a:endParaRPr lang="en-US"/>
          </a:p>
        </p:txBody>
      </p:sp>
      <p:sp>
        <p:nvSpPr>
          <p:cNvPr id="11" name="Text 9"/>
          <p:cNvSpPr/>
          <p:nvPr/>
        </p:nvSpPr>
        <p:spPr>
          <a:xfrm>
            <a:off x="594360" y="2112264"/>
            <a:ext cx="2103120" cy="256032"/>
          </a:xfrm>
          <a:prstGeom prst="rect">
            <a:avLst/>
          </a:prstGeom>
          <a:noFill/>
          <a:ln/>
        </p:spPr>
        <p:txBody>
          <a:bodyPr wrap="square" rtlCol="0" anchor="ctr"/>
          <a:lstStyle/>
          <a:p>
            <a:pPr marL="0" indent="0">
              <a:buNone/>
            </a:pPr>
            <a:r>
              <a:rPr lang="en-US" sz="1100" b="1" dirty="0">
                <a:solidFill>
                  <a:srgbClr val="111111"/>
                </a:solidFill>
              </a:rPr>
              <a:t>Kayla Suttihprapa</a:t>
            </a:r>
            <a:endParaRPr lang="en-US" sz="1100" dirty="0"/>
          </a:p>
        </p:txBody>
      </p:sp>
      <p:sp>
        <p:nvSpPr>
          <p:cNvPr id="12" name="Text 10"/>
          <p:cNvSpPr/>
          <p:nvPr/>
        </p:nvSpPr>
        <p:spPr>
          <a:xfrm>
            <a:off x="594360" y="2359152"/>
            <a:ext cx="2103120" cy="219456"/>
          </a:xfrm>
          <a:prstGeom prst="rect">
            <a:avLst/>
          </a:prstGeom>
          <a:noFill/>
          <a:ln/>
        </p:spPr>
        <p:txBody>
          <a:bodyPr wrap="square" rtlCol="0" anchor="ctr"/>
          <a:lstStyle/>
          <a:p>
            <a:pPr marL="0" indent="0">
              <a:buNone/>
            </a:pPr>
            <a:r>
              <a:rPr lang="en-US" sz="1000" dirty="0">
                <a:solidFill>
                  <a:srgbClr val="006633"/>
                </a:solidFill>
              </a:rPr>
              <a:t>Profile Setup + Edit</a:t>
            </a:r>
            <a:endParaRPr lang="en-US" sz="1000" dirty="0"/>
          </a:p>
        </p:txBody>
      </p:sp>
      <p:sp>
        <p:nvSpPr>
          <p:cNvPr id="13" name="Text 11"/>
          <p:cNvSpPr/>
          <p:nvPr/>
        </p:nvSpPr>
        <p:spPr>
          <a:xfrm>
            <a:off x="2834640" y="2176272"/>
            <a:ext cx="5760720" cy="347472"/>
          </a:xfrm>
          <a:prstGeom prst="rect">
            <a:avLst/>
          </a:prstGeom>
          <a:noFill/>
          <a:ln/>
        </p:spPr>
        <p:txBody>
          <a:bodyPr wrap="square" rtlCol="0" anchor="ctr"/>
          <a:lstStyle/>
          <a:p>
            <a:pPr marL="0" indent="0">
              <a:buNone/>
            </a:pPr>
            <a:r>
              <a:rPr lang="en-US" sz="1000" dirty="0">
                <a:solidFill>
                  <a:srgbClr val="6B7280"/>
                </a:solidFill>
              </a:rPr>
              <a:t>Conceptual class · Detailed class · Profile setup seq · Profile edit seq</a:t>
            </a:r>
            <a:endParaRPr lang="en-US" sz="1000" dirty="0"/>
          </a:p>
        </p:txBody>
      </p:sp>
      <p:sp>
        <p:nvSpPr>
          <p:cNvPr id="14" name="Shape 12"/>
          <p:cNvSpPr/>
          <p:nvPr/>
        </p:nvSpPr>
        <p:spPr>
          <a:xfrm>
            <a:off x="411480" y="2752344"/>
            <a:ext cx="8321040" cy="62179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11480" y="2752344"/>
            <a:ext cx="64008" cy="621792"/>
          </a:xfrm>
          <a:prstGeom prst="rect">
            <a:avLst/>
          </a:prstGeom>
          <a:solidFill>
            <a:srgbClr val="006633"/>
          </a:solidFill>
          <a:ln w="12700">
            <a:solidFill>
              <a:srgbClr val="006633"/>
            </a:solidFill>
            <a:prstDash val="solid"/>
          </a:ln>
        </p:spPr>
        <p:txBody>
          <a:bodyPr/>
          <a:lstStyle/>
          <a:p>
            <a:endParaRPr lang="en-US"/>
          </a:p>
        </p:txBody>
      </p:sp>
      <p:sp>
        <p:nvSpPr>
          <p:cNvPr id="16" name="Text 14"/>
          <p:cNvSpPr/>
          <p:nvPr/>
        </p:nvSpPr>
        <p:spPr>
          <a:xfrm>
            <a:off x="594360" y="2825496"/>
            <a:ext cx="2103120" cy="256032"/>
          </a:xfrm>
          <a:prstGeom prst="rect">
            <a:avLst/>
          </a:prstGeom>
          <a:noFill/>
          <a:ln/>
        </p:spPr>
        <p:txBody>
          <a:bodyPr wrap="square" rtlCol="0" anchor="ctr"/>
          <a:lstStyle/>
          <a:p>
            <a:pPr marL="0" indent="0">
              <a:buNone/>
            </a:pPr>
            <a:r>
              <a:rPr lang="en-US" sz="1100" b="1" dirty="0">
                <a:solidFill>
                  <a:srgbClr val="111111"/>
                </a:solidFill>
              </a:rPr>
              <a:t>Enoch Ogunfiditimi</a:t>
            </a:r>
            <a:endParaRPr lang="en-US" sz="1100" dirty="0"/>
          </a:p>
        </p:txBody>
      </p:sp>
      <p:sp>
        <p:nvSpPr>
          <p:cNvPr id="17" name="Text 15"/>
          <p:cNvSpPr/>
          <p:nvPr/>
        </p:nvSpPr>
        <p:spPr>
          <a:xfrm>
            <a:off x="594360" y="3072384"/>
            <a:ext cx="2103120" cy="219456"/>
          </a:xfrm>
          <a:prstGeom prst="rect">
            <a:avLst/>
          </a:prstGeom>
          <a:noFill/>
          <a:ln/>
        </p:spPr>
        <p:txBody>
          <a:bodyPr wrap="square" rtlCol="0" anchor="ctr"/>
          <a:lstStyle/>
          <a:p>
            <a:pPr marL="0" indent="0">
              <a:buNone/>
            </a:pPr>
            <a:r>
              <a:rPr lang="en-US" sz="1000" dirty="0">
                <a:solidFill>
                  <a:srgbClr val="006633"/>
                </a:solidFill>
              </a:rPr>
              <a:t>Study Groups</a:t>
            </a:r>
            <a:endParaRPr lang="en-US" sz="1000" dirty="0"/>
          </a:p>
        </p:txBody>
      </p:sp>
      <p:sp>
        <p:nvSpPr>
          <p:cNvPr id="18" name="Text 16"/>
          <p:cNvSpPr/>
          <p:nvPr/>
        </p:nvSpPr>
        <p:spPr>
          <a:xfrm>
            <a:off x="2834640" y="2889504"/>
            <a:ext cx="5760720" cy="347472"/>
          </a:xfrm>
          <a:prstGeom prst="rect">
            <a:avLst/>
          </a:prstGeom>
          <a:noFill/>
          <a:ln/>
        </p:spPr>
        <p:txBody>
          <a:bodyPr wrap="square" rtlCol="0" anchor="ctr"/>
          <a:lstStyle/>
          <a:p>
            <a:pPr marL="0" indent="0">
              <a:buNone/>
            </a:pPr>
            <a:r>
              <a:rPr lang="en-US" sz="1000" dirty="0">
                <a:solidFill>
                  <a:srgbClr val="6B7280"/>
                </a:solidFill>
              </a:rPr>
              <a:t>Conceptual class · Detailed class · Create group seq · Join/Leave seq</a:t>
            </a:r>
            <a:endParaRPr lang="en-US" sz="1000" dirty="0"/>
          </a:p>
        </p:txBody>
      </p:sp>
      <p:sp>
        <p:nvSpPr>
          <p:cNvPr id="19" name="Shape 17"/>
          <p:cNvSpPr/>
          <p:nvPr/>
        </p:nvSpPr>
        <p:spPr>
          <a:xfrm>
            <a:off x="411480" y="3465576"/>
            <a:ext cx="8321040" cy="62179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11480" y="3465576"/>
            <a:ext cx="64008" cy="621792"/>
          </a:xfrm>
          <a:prstGeom prst="rect">
            <a:avLst/>
          </a:prstGeom>
          <a:solidFill>
            <a:srgbClr val="006633"/>
          </a:solidFill>
          <a:ln w="12700">
            <a:solidFill>
              <a:srgbClr val="006633"/>
            </a:solidFill>
            <a:prstDash val="solid"/>
          </a:ln>
        </p:spPr>
        <p:txBody>
          <a:bodyPr/>
          <a:lstStyle/>
          <a:p>
            <a:endParaRPr lang="en-US"/>
          </a:p>
        </p:txBody>
      </p:sp>
      <p:sp>
        <p:nvSpPr>
          <p:cNvPr id="21" name="Text 19"/>
          <p:cNvSpPr/>
          <p:nvPr/>
        </p:nvSpPr>
        <p:spPr>
          <a:xfrm>
            <a:off x="594360" y="3538728"/>
            <a:ext cx="2103120" cy="256032"/>
          </a:xfrm>
          <a:prstGeom prst="rect">
            <a:avLst/>
          </a:prstGeom>
          <a:noFill/>
          <a:ln/>
        </p:spPr>
        <p:txBody>
          <a:bodyPr wrap="square" rtlCol="0" anchor="ctr"/>
          <a:lstStyle/>
          <a:p>
            <a:pPr marL="0" indent="0">
              <a:buNone/>
            </a:pPr>
            <a:r>
              <a:rPr lang="en-US" sz="1100" b="1" dirty="0">
                <a:solidFill>
                  <a:srgbClr val="111111"/>
                </a:solidFill>
              </a:rPr>
              <a:t>Aser Eshetu</a:t>
            </a:r>
            <a:endParaRPr lang="en-US" sz="1100" dirty="0"/>
          </a:p>
        </p:txBody>
      </p:sp>
      <p:sp>
        <p:nvSpPr>
          <p:cNvPr id="22" name="Text 20"/>
          <p:cNvSpPr/>
          <p:nvPr/>
        </p:nvSpPr>
        <p:spPr>
          <a:xfrm>
            <a:off x="594360" y="3785616"/>
            <a:ext cx="2103120" cy="219456"/>
          </a:xfrm>
          <a:prstGeom prst="rect">
            <a:avLst/>
          </a:prstGeom>
          <a:noFill/>
          <a:ln/>
        </p:spPr>
        <p:txBody>
          <a:bodyPr wrap="square" rtlCol="0" anchor="ctr"/>
          <a:lstStyle/>
          <a:p>
            <a:pPr marL="0" indent="0">
              <a:buNone/>
            </a:pPr>
            <a:r>
              <a:rPr lang="en-US" sz="1000" dirty="0">
                <a:solidFill>
                  <a:srgbClr val="006633"/>
                </a:solidFill>
              </a:rPr>
              <a:t>Campus Events</a:t>
            </a:r>
            <a:endParaRPr lang="en-US" sz="1000" dirty="0"/>
          </a:p>
        </p:txBody>
      </p:sp>
      <p:sp>
        <p:nvSpPr>
          <p:cNvPr id="23" name="Text 21"/>
          <p:cNvSpPr/>
          <p:nvPr/>
        </p:nvSpPr>
        <p:spPr>
          <a:xfrm>
            <a:off x="2834640" y="3602736"/>
            <a:ext cx="5760720" cy="347472"/>
          </a:xfrm>
          <a:prstGeom prst="rect">
            <a:avLst/>
          </a:prstGeom>
          <a:noFill/>
          <a:ln/>
        </p:spPr>
        <p:txBody>
          <a:bodyPr wrap="square" rtlCol="0" anchor="ctr"/>
          <a:lstStyle/>
          <a:p>
            <a:pPr marL="0" indent="0">
              <a:buNone/>
            </a:pPr>
            <a:r>
              <a:rPr lang="en-US" sz="1000" dirty="0">
                <a:solidFill>
                  <a:srgbClr val="6B7280"/>
                </a:solidFill>
              </a:rPr>
              <a:t>Conceptual class · Detailed class · Post event seq · RSVP seq</a:t>
            </a:r>
            <a:endParaRPr lang="en-US" sz="1000" dirty="0"/>
          </a:p>
        </p:txBody>
      </p:sp>
      <p:sp>
        <p:nvSpPr>
          <p:cNvPr id="24" name="Shape 22"/>
          <p:cNvSpPr/>
          <p:nvPr/>
        </p:nvSpPr>
        <p:spPr>
          <a:xfrm>
            <a:off x="411480" y="4178808"/>
            <a:ext cx="8321040" cy="62179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11480" y="4178808"/>
            <a:ext cx="64008" cy="621792"/>
          </a:xfrm>
          <a:prstGeom prst="rect">
            <a:avLst/>
          </a:prstGeom>
          <a:solidFill>
            <a:srgbClr val="006633"/>
          </a:solidFill>
          <a:ln w="12700">
            <a:solidFill>
              <a:srgbClr val="006633"/>
            </a:solidFill>
            <a:prstDash val="solid"/>
          </a:ln>
        </p:spPr>
        <p:txBody>
          <a:bodyPr/>
          <a:lstStyle/>
          <a:p>
            <a:endParaRPr lang="en-US"/>
          </a:p>
        </p:txBody>
      </p:sp>
      <p:sp>
        <p:nvSpPr>
          <p:cNvPr id="26" name="Text 24"/>
          <p:cNvSpPr/>
          <p:nvPr/>
        </p:nvSpPr>
        <p:spPr>
          <a:xfrm>
            <a:off x="594360" y="4251960"/>
            <a:ext cx="2103120" cy="256032"/>
          </a:xfrm>
          <a:prstGeom prst="rect">
            <a:avLst/>
          </a:prstGeom>
          <a:noFill/>
          <a:ln/>
        </p:spPr>
        <p:txBody>
          <a:bodyPr wrap="square" rtlCol="0" anchor="ctr"/>
          <a:lstStyle/>
          <a:p>
            <a:pPr marL="0" indent="0">
              <a:buNone/>
            </a:pPr>
            <a:r>
              <a:rPr lang="en-US" sz="1100" b="1" dirty="0">
                <a:solidFill>
                  <a:srgbClr val="111111"/>
                </a:solidFill>
              </a:rPr>
              <a:t>Noe Flores</a:t>
            </a:r>
            <a:endParaRPr lang="en-US" sz="1100" dirty="0"/>
          </a:p>
        </p:txBody>
      </p:sp>
      <p:sp>
        <p:nvSpPr>
          <p:cNvPr id="27" name="Text 25"/>
          <p:cNvSpPr/>
          <p:nvPr/>
        </p:nvSpPr>
        <p:spPr>
          <a:xfrm>
            <a:off x="594360" y="4498848"/>
            <a:ext cx="2103120" cy="219456"/>
          </a:xfrm>
          <a:prstGeom prst="rect">
            <a:avLst/>
          </a:prstGeom>
          <a:noFill/>
          <a:ln/>
        </p:spPr>
        <p:txBody>
          <a:bodyPr wrap="square" rtlCol="0" anchor="ctr"/>
          <a:lstStyle/>
          <a:p>
            <a:pPr marL="0" indent="0">
              <a:buNone/>
            </a:pPr>
            <a:r>
              <a:rPr lang="en-US" sz="1000" dirty="0">
                <a:solidFill>
                  <a:srgbClr val="006633"/>
                </a:solidFill>
              </a:rPr>
              <a:t>Textbook Marketplace</a:t>
            </a:r>
            <a:endParaRPr lang="en-US" sz="1000" dirty="0"/>
          </a:p>
        </p:txBody>
      </p:sp>
      <p:sp>
        <p:nvSpPr>
          <p:cNvPr id="28" name="Text 26"/>
          <p:cNvSpPr/>
          <p:nvPr/>
        </p:nvSpPr>
        <p:spPr>
          <a:xfrm>
            <a:off x="2834640" y="4315968"/>
            <a:ext cx="5760720" cy="347472"/>
          </a:xfrm>
          <a:prstGeom prst="rect">
            <a:avLst/>
          </a:prstGeom>
          <a:noFill/>
          <a:ln/>
        </p:spPr>
        <p:txBody>
          <a:bodyPr wrap="square" rtlCol="0" anchor="ctr"/>
          <a:lstStyle/>
          <a:p>
            <a:pPr marL="0" indent="0">
              <a:buNone/>
            </a:pPr>
            <a:r>
              <a:rPr lang="en-US" sz="1000" dirty="0">
                <a:solidFill>
                  <a:srgbClr val="6B7280"/>
                </a:solidFill>
              </a:rPr>
              <a:t>Conceptual class · Detailed class · Post listing seq · Mark sold seq</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Technologies Used</a:t>
            </a:r>
            <a:endParaRPr lang="en-US" sz="3000" dirty="0"/>
          </a:p>
        </p:txBody>
      </p:sp>
      <p:sp>
        <p:nvSpPr>
          <p:cNvPr id="3" name="Shape 1"/>
          <p:cNvSpPr/>
          <p:nvPr/>
        </p:nvSpPr>
        <p:spPr>
          <a:xfrm>
            <a:off x="361438" y="982980"/>
            <a:ext cx="8321040" cy="1188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411480" y="1005840"/>
            <a:ext cx="64008" cy="1188720"/>
          </a:xfrm>
          <a:prstGeom prst="rect">
            <a:avLst/>
          </a:prstGeom>
          <a:solidFill>
            <a:srgbClr val="006633"/>
          </a:solidFill>
          <a:ln w="12700">
            <a:solidFill>
              <a:srgbClr val="006633"/>
            </a:solidFill>
            <a:prstDash val="solid"/>
          </a:ln>
        </p:spPr>
        <p:txBody>
          <a:bodyPr/>
          <a:lstStyle/>
          <a:p>
            <a:endParaRPr lang="en-US"/>
          </a:p>
        </p:txBody>
      </p:sp>
      <p:sp>
        <p:nvSpPr>
          <p:cNvPr id="5" name="Text 3"/>
          <p:cNvSpPr/>
          <p:nvPr/>
        </p:nvSpPr>
        <p:spPr>
          <a:xfrm>
            <a:off x="594360" y="1097280"/>
            <a:ext cx="2286000" cy="320040"/>
          </a:xfrm>
          <a:prstGeom prst="rect">
            <a:avLst/>
          </a:prstGeom>
          <a:noFill/>
          <a:ln/>
        </p:spPr>
        <p:txBody>
          <a:bodyPr wrap="square" rtlCol="0" anchor="ctr"/>
          <a:lstStyle/>
          <a:p>
            <a:pPr marL="0" indent="0">
              <a:buNone/>
            </a:pPr>
            <a:r>
              <a:rPr lang="en-US" sz="1200" b="1" dirty="0">
                <a:solidFill>
                  <a:srgbClr val="006633"/>
                </a:solidFill>
              </a:rPr>
              <a:t>UI Layer</a:t>
            </a:r>
            <a:endParaRPr lang="en-US" sz="1200" dirty="0"/>
          </a:p>
        </p:txBody>
      </p:sp>
      <p:sp>
        <p:nvSpPr>
          <p:cNvPr id="6" name="Text 4"/>
          <p:cNvSpPr/>
          <p:nvPr/>
        </p:nvSpPr>
        <p:spPr>
          <a:xfrm>
            <a:off x="594360" y="1417320"/>
            <a:ext cx="7680960" cy="658368"/>
          </a:xfrm>
          <a:prstGeom prst="rect">
            <a:avLst/>
          </a:prstGeom>
          <a:noFill/>
          <a:ln/>
        </p:spPr>
        <p:txBody>
          <a:bodyPr wrap="square" rtlCol="0" anchor="ctr"/>
          <a:lstStyle/>
          <a:p>
            <a:pPr marL="342900" indent="-342900">
              <a:buSzPct val="100000"/>
              <a:buChar char="•"/>
            </a:pPr>
            <a:r>
              <a:rPr lang="en-US" sz="1100" dirty="0">
                <a:solidFill>
                  <a:srgbClr val="111111"/>
                </a:solidFill>
              </a:rPr>
              <a:t xml:space="preserve">React </a:t>
            </a:r>
            <a:endParaRPr lang="en-US" sz="1100" dirty="0"/>
          </a:p>
          <a:p>
            <a:pPr marL="342900" indent="-342900">
              <a:buSzPct val="100000"/>
              <a:buChar char="•"/>
            </a:pPr>
            <a:r>
              <a:rPr lang="en-US" sz="1100" dirty="0">
                <a:solidFill>
                  <a:srgbClr val="111111"/>
                </a:solidFill>
              </a:rPr>
              <a:t xml:space="preserve">CSS </a:t>
            </a:r>
          </a:p>
          <a:p>
            <a:pPr marL="342900" indent="-342900">
              <a:buSzPct val="100000"/>
              <a:buChar char="•"/>
            </a:pPr>
            <a:r>
              <a:rPr lang="en-US" sz="1100" dirty="0">
                <a:solidFill>
                  <a:srgbClr val="111111"/>
                </a:solidFill>
              </a:rPr>
              <a:t>Component Composition Pattern</a:t>
            </a:r>
            <a:endParaRPr lang="en-US" sz="1100" dirty="0"/>
          </a:p>
        </p:txBody>
      </p:sp>
      <p:sp>
        <p:nvSpPr>
          <p:cNvPr id="7" name="Shape 5"/>
          <p:cNvSpPr/>
          <p:nvPr/>
        </p:nvSpPr>
        <p:spPr>
          <a:xfrm>
            <a:off x="411480" y="2331720"/>
            <a:ext cx="8321040" cy="1188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411480" y="2331720"/>
            <a:ext cx="64008" cy="1188720"/>
          </a:xfrm>
          <a:prstGeom prst="rect">
            <a:avLst/>
          </a:prstGeom>
          <a:solidFill>
            <a:srgbClr val="006633"/>
          </a:solidFill>
          <a:ln w="12700">
            <a:solidFill>
              <a:srgbClr val="006633"/>
            </a:solidFill>
            <a:prstDash val="solid"/>
          </a:ln>
        </p:spPr>
        <p:txBody>
          <a:bodyPr/>
          <a:lstStyle/>
          <a:p>
            <a:endParaRPr lang="en-US"/>
          </a:p>
        </p:txBody>
      </p:sp>
      <p:sp>
        <p:nvSpPr>
          <p:cNvPr id="9" name="Text 7"/>
          <p:cNvSpPr/>
          <p:nvPr/>
        </p:nvSpPr>
        <p:spPr>
          <a:xfrm>
            <a:off x="594360" y="2423160"/>
            <a:ext cx="2286000" cy="320040"/>
          </a:xfrm>
          <a:prstGeom prst="rect">
            <a:avLst/>
          </a:prstGeom>
          <a:noFill/>
          <a:ln/>
        </p:spPr>
        <p:txBody>
          <a:bodyPr wrap="square" rtlCol="0" anchor="ctr"/>
          <a:lstStyle/>
          <a:p>
            <a:pPr marL="0" indent="0">
              <a:buNone/>
            </a:pPr>
            <a:r>
              <a:rPr lang="en-US" sz="1200" b="1" dirty="0">
                <a:solidFill>
                  <a:srgbClr val="006633"/>
                </a:solidFill>
              </a:rPr>
              <a:t>Business Logic Layer</a:t>
            </a:r>
            <a:endParaRPr lang="en-US" sz="1200" dirty="0"/>
          </a:p>
        </p:txBody>
      </p:sp>
      <p:sp>
        <p:nvSpPr>
          <p:cNvPr id="10" name="Text 8"/>
          <p:cNvSpPr/>
          <p:nvPr/>
        </p:nvSpPr>
        <p:spPr>
          <a:xfrm>
            <a:off x="594360" y="2743200"/>
            <a:ext cx="7680960" cy="658368"/>
          </a:xfrm>
          <a:prstGeom prst="rect">
            <a:avLst/>
          </a:prstGeom>
          <a:noFill/>
          <a:ln/>
        </p:spPr>
        <p:txBody>
          <a:bodyPr wrap="square" rtlCol="0" anchor="ctr"/>
          <a:lstStyle/>
          <a:p>
            <a:pPr marL="342900" indent="-342900">
              <a:buSzPct val="100000"/>
              <a:buChar char="•"/>
            </a:pPr>
            <a:r>
              <a:rPr lang="en-US" sz="1100" dirty="0">
                <a:solidFill>
                  <a:srgbClr val="111111"/>
                </a:solidFill>
              </a:rPr>
              <a:t>Domain validation logic (universityThemes.js)</a:t>
            </a:r>
            <a:endParaRPr lang="en-US" sz="1100" dirty="0"/>
          </a:p>
          <a:p>
            <a:pPr marL="342900" indent="-342900">
              <a:buSzPct val="100000"/>
              <a:buChar char="•"/>
            </a:pPr>
            <a:r>
              <a:rPr lang="en-US" sz="1100" dirty="0">
                <a:solidFill>
                  <a:srgbClr val="111111"/>
                </a:solidFill>
              </a:rPr>
              <a:t>Optimistic UI updates (useMemo / useState)</a:t>
            </a:r>
            <a:endParaRPr lang="en-US" sz="1100" dirty="0"/>
          </a:p>
          <a:p>
            <a:pPr marL="342900" indent="-342900">
              <a:buSzPct val="100000"/>
              <a:buChar char="•"/>
            </a:pPr>
            <a:r>
              <a:rPr lang="en-US" sz="1100" dirty="0">
                <a:solidFill>
                  <a:srgbClr val="111111"/>
                </a:solidFill>
              </a:rPr>
              <a:t>Observer pattern (onAuthStateChange)</a:t>
            </a:r>
            <a:endParaRPr lang="en-US" sz="1100" dirty="0"/>
          </a:p>
        </p:txBody>
      </p:sp>
      <p:sp>
        <p:nvSpPr>
          <p:cNvPr id="11" name="Shape 9"/>
          <p:cNvSpPr/>
          <p:nvPr/>
        </p:nvSpPr>
        <p:spPr>
          <a:xfrm>
            <a:off x="411480" y="3657600"/>
            <a:ext cx="8321040" cy="118872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11480" y="3657600"/>
            <a:ext cx="64008" cy="1188720"/>
          </a:xfrm>
          <a:prstGeom prst="rect">
            <a:avLst/>
          </a:prstGeom>
          <a:solidFill>
            <a:srgbClr val="006633"/>
          </a:solidFill>
          <a:ln w="12700">
            <a:solidFill>
              <a:srgbClr val="006633"/>
            </a:solidFill>
            <a:prstDash val="solid"/>
          </a:ln>
        </p:spPr>
        <p:txBody>
          <a:bodyPr/>
          <a:lstStyle/>
          <a:p>
            <a:endParaRPr lang="en-US"/>
          </a:p>
        </p:txBody>
      </p:sp>
      <p:sp>
        <p:nvSpPr>
          <p:cNvPr id="13" name="Text 11"/>
          <p:cNvSpPr/>
          <p:nvPr/>
        </p:nvSpPr>
        <p:spPr>
          <a:xfrm>
            <a:off x="594360" y="3749040"/>
            <a:ext cx="2286000" cy="320040"/>
          </a:xfrm>
          <a:prstGeom prst="rect">
            <a:avLst/>
          </a:prstGeom>
          <a:noFill/>
          <a:ln/>
        </p:spPr>
        <p:txBody>
          <a:bodyPr wrap="square" rtlCol="0" anchor="ctr"/>
          <a:lstStyle/>
          <a:p>
            <a:pPr marL="0" indent="0">
              <a:buNone/>
            </a:pPr>
            <a:r>
              <a:rPr lang="en-US" sz="1200" b="1" dirty="0">
                <a:solidFill>
                  <a:srgbClr val="006633"/>
                </a:solidFill>
              </a:rPr>
              <a:t>Persistence Layer</a:t>
            </a:r>
            <a:endParaRPr lang="en-US" sz="1200" dirty="0"/>
          </a:p>
        </p:txBody>
      </p:sp>
      <p:sp>
        <p:nvSpPr>
          <p:cNvPr id="14" name="Text 12"/>
          <p:cNvSpPr/>
          <p:nvPr/>
        </p:nvSpPr>
        <p:spPr>
          <a:xfrm>
            <a:off x="594360" y="4069080"/>
            <a:ext cx="7680960" cy="658368"/>
          </a:xfrm>
          <a:prstGeom prst="rect">
            <a:avLst/>
          </a:prstGeom>
          <a:noFill/>
          <a:ln/>
        </p:spPr>
        <p:txBody>
          <a:bodyPr wrap="square" rtlCol="0" anchor="ctr"/>
          <a:lstStyle/>
          <a:p>
            <a:pPr marL="342900" indent="-342900">
              <a:buSzPct val="100000"/>
              <a:buChar char="•"/>
            </a:pPr>
            <a:r>
              <a:rPr lang="en-US" sz="1100" dirty="0">
                <a:solidFill>
                  <a:srgbClr val="111111"/>
                </a:solidFill>
              </a:rPr>
              <a:t>Supabase Auth — email verification + JWT sessions</a:t>
            </a:r>
            <a:endParaRPr lang="en-US" sz="1100" dirty="0"/>
          </a:p>
          <a:p>
            <a:pPr marL="342900" indent="-342900">
              <a:buSzPct val="100000"/>
              <a:buChar char="•"/>
            </a:pPr>
            <a:r>
              <a:rPr lang="en-US" sz="1100" dirty="0">
                <a:solidFill>
                  <a:srgbClr val="111111"/>
                </a:solidFill>
              </a:rPr>
              <a:t>Supabase PostgreSQL — 7 relational tables + RLS policies</a:t>
            </a:r>
            <a:endParaRPr lang="en-US" sz="1100" dirty="0"/>
          </a:p>
          <a:p>
            <a:pPr marL="342900" indent="-342900">
              <a:buSzPct val="100000"/>
              <a:buChar char="•"/>
            </a:pPr>
            <a:r>
              <a:rPr lang="en-US" sz="1100" dirty="0">
                <a:solidFill>
                  <a:srgbClr val="111111"/>
                </a:solidFill>
              </a:rPr>
              <a:t>Supabase Storage — avatars + textbook images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Layered Architecture</a:t>
            </a:r>
            <a:endParaRPr lang="en-US" sz="3000" dirty="0"/>
          </a:p>
        </p:txBody>
      </p:sp>
      <p:sp>
        <p:nvSpPr>
          <p:cNvPr id="3" name="Text 1"/>
          <p:cNvSpPr/>
          <p:nvPr/>
        </p:nvSpPr>
        <p:spPr>
          <a:xfrm>
            <a:off x="502920" y="804672"/>
            <a:ext cx="8229600" cy="320040"/>
          </a:xfrm>
          <a:prstGeom prst="rect">
            <a:avLst/>
          </a:prstGeom>
          <a:noFill/>
          <a:ln/>
        </p:spPr>
        <p:txBody>
          <a:bodyPr wrap="square" rtlCol="0" anchor="ctr"/>
          <a:lstStyle/>
          <a:p>
            <a:pPr marL="0" indent="0">
              <a:buNone/>
            </a:pPr>
            <a:r>
              <a:rPr lang="en-US" sz="1300" i="1" dirty="0">
                <a:solidFill>
                  <a:srgbClr val="6B7280"/>
                </a:solidFill>
              </a:rPr>
              <a:t>UI → Business Logic → Persistence — React + Supabase</a:t>
            </a:r>
            <a:endParaRPr lang="en-US" sz="1300" dirty="0"/>
          </a:p>
        </p:txBody>
      </p:sp>
      <p:sp>
        <p:nvSpPr>
          <p:cNvPr id="4" name="Shape 2"/>
          <p:cNvSpPr/>
          <p:nvPr/>
        </p:nvSpPr>
        <p:spPr>
          <a:xfrm>
            <a:off x="411480" y="1261872"/>
            <a:ext cx="8321040" cy="1051560"/>
          </a:xfrm>
          <a:prstGeom prst="rect">
            <a:avLst/>
          </a:prstGeom>
          <a:solidFill>
            <a:srgbClr val="DBEAFE"/>
          </a:solidFill>
          <a:ln w="19050">
            <a:solidFill>
              <a:srgbClr val="1E40AF"/>
            </a:solidFill>
            <a:prstDash val="solid"/>
          </a:ln>
        </p:spPr>
        <p:txBody>
          <a:bodyPr/>
          <a:lstStyle/>
          <a:p>
            <a:endParaRPr lang="en-US"/>
          </a:p>
        </p:txBody>
      </p:sp>
      <p:sp>
        <p:nvSpPr>
          <p:cNvPr id="5" name="Text 3"/>
          <p:cNvSpPr/>
          <p:nvPr/>
        </p:nvSpPr>
        <p:spPr>
          <a:xfrm>
            <a:off x="548640" y="1335024"/>
            <a:ext cx="2011680" cy="292608"/>
          </a:xfrm>
          <a:prstGeom prst="rect">
            <a:avLst/>
          </a:prstGeom>
          <a:noFill/>
          <a:ln/>
        </p:spPr>
        <p:txBody>
          <a:bodyPr wrap="square" rtlCol="0" anchor="ctr"/>
          <a:lstStyle/>
          <a:p>
            <a:pPr marL="0" indent="0">
              <a:buNone/>
            </a:pPr>
            <a:r>
              <a:rPr lang="en-US" sz="1100" b="1" dirty="0">
                <a:solidFill>
                  <a:srgbClr val="1E40AF"/>
                </a:solidFill>
              </a:rPr>
              <a:t>UI Layer</a:t>
            </a:r>
            <a:endParaRPr lang="en-US" sz="1100" dirty="0"/>
          </a:p>
        </p:txBody>
      </p:sp>
      <p:sp>
        <p:nvSpPr>
          <p:cNvPr id="6" name="Text 4"/>
          <p:cNvSpPr/>
          <p:nvPr/>
        </p:nvSpPr>
        <p:spPr>
          <a:xfrm>
            <a:off x="548640" y="1645920"/>
            <a:ext cx="8046720" cy="548640"/>
          </a:xfrm>
          <a:prstGeom prst="rect">
            <a:avLst/>
          </a:prstGeom>
          <a:noFill/>
          <a:ln/>
        </p:spPr>
        <p:txBody>
          <a:bodyPr wrap="square" rtlCol="0" anchor="ctr"/>
          <a:lstStyle/>
          <a:p>
            <a:pPr marL="0" indent="0">
              <a:buNone/>
            </a:pPr>
            <a:r>
              <a:rPr lang="en-US" sz="1000" dirty="0">
                <a:solidFill>
                  <a:srgbClr val="374151"/>
                </a:solidFill>
              </a:rPr>
              <a:t>Auth.js   ·   Dashboard.js   ·   StudyGroups.js   ·   CampusEvents.js   ·   TextbookMarketplace.js   ·   ProfileSetup.js   ·   ProfileEdit.js</a:t>
            </a:r>
            <a:endParaRPr lang="en-US" sz="1000" dirty="0"/>
          </a:p>
        </p:txBody>
      </p:sp>
      <p:sp>
        <p:nvSpPr>
          <p:cNvPr id="7" name="Text 5"/>
          <p:cNvSpPr/>
          <p:nvPr/>
        </p:nvSpPr>
        <p:spPr>
          <a:xfrm>
            <a:off x="4206240" y="2331720"/>
            <a:ext cx="731520" cy="164592"/>
          </a:xfrm>
          <a:prstGeom prst="rect">
            <a:avLst/>
          </a:prstGeom>
          <a:noFill/>
          <a:ln/>
        </p:spPr>
        <p:txBody>
          <a:bodyPr wrap="square" rtlCol="0" anchor="ctr"/>
          <a:lstStyle/>
          <a:p>
            <a:pPr marL="0" indent="0" algn="ctr">
              <a:buNone/>
            </a:pPr>
            <a:r>
              <a:rPr lang="en-US" sz="1400" b="1" dirty="0">
                <a:solidFill>
                  <a:srgbClr val="6B7280"/>
                </a:solidFill>
              </a:rPr>
              <a:t>↓</a:t>
            </a:r>
            <a:endParaRPr lang="en-US" sz="1400" dirty="0"/>
          </a:p>
        </p:txBody>
      </p:sp>
      <p:sp>
        <p:nvSpPr>
          <p:cNvPr id="8" name="Shape 6"/>
          <p:cNvSpPr/>
          <p:nvPr/>
        </p:nvSpPr>
        <p:spPr>
          <a:xfrm>
            <a:off x="411480" y="2496312"/>
            <a:ext cx="8321040" cy="1051560"/>
          </a:xfrm>
          <a:prstGeom prst="rect">
            <a:avLst/>
          </a:prstGeom>
          <a:solidFill>
            <a:srgbClr val="DCFCE7"/>
          </a:solidFill>
          <a:ln w="19050">
            <a:solidFill>
              <a:srgbClr val="006633"/>
            </a:solidFill>
            <a:prstDash val="solid"/>
          </a:ln>
        </p:spPr>
        <p:txBody>
          <a:bodyPr/>
          <a:lstStyle/>
          <a:p>
            <a:endParaRPr lang="en-US"/>
          </a:p>
        </p:txBody>
      </p:sp>
      <p:sp>
        <p:nvSpPr>
          <p:cNvPr id="9" name="Text 7"/>
          <p:cNvSpPr/>
          <p:nvPr/>
        </p:nvSpPr>
        <p:spPr>
          <a:xfrm>
            <a:off x="548640" y="2569464"/>
            <a:ext cx="2011680" cy="292608"/>
          </a:xfrm>
          <a:prstGeom prst="rect">
            <a:avLst/>
          </a:prstGeom>
          <a:noFill/>
          <a:ln/>
        </p:spPr>
        <p:txBody>
          <a:bodyPr wrap="square" rtlCol="0" anchor="ctr"/>
          <a:lstStyle/>
          <a:p>
            <a:pPr marL="0" indent="0">
              <a:buNone/>
            </a:pPr>
            <a:r>
              <a:rPr lang="en-US" sz="1100" b="1" dirty="0">
                <a:solidFill>
                  <a:srgbClr val="006633"/>
                </a:solidFill>
              </a:rPr>
              <a:t>Business Logic Layer</a:t>
            </a:r>
            <a:endParaRPr lang="en-US" sz="1100" dirty="0"/>
          </a:p>
        </p:txBody>
      </p:sp>
      <p:sp>
        <p:nvSpPr>
          <p:cNvPr id="10" name="Text 8"/>
          <p:cNvSpPr/>
          <p:nvPr/>
        </p:nvSpPr>
        <p:spPr>
          <a:xfrm>
            <a:off x="548640" y="2880360"/>
            <a:ext cx="8046720" cy="548640"/>
          </a:xfrm>
          <a:prstGeom prst="rect">
            <a:avLst/>
          </a:prstGeom>
          <a:noFill/>
          <a:ln/>
        </p:spPr>
        <p:txBody>
          <a:bodyPr wrap="square" rtlCol="0" anchor="ctr"/>
          <a:lstStyle/>
          <a:p>
            <a:pPr marL="0" indent="0">
              <a:buNone/>
            </a:pPr>
            <a:r>
              <a:rPr lang="en-US" sz="1000" dirty="0">
                <a:solidFill>
                  <a:srgbClr val="374151"/>
                </a:solidFill>
              </a:rPr>
              <a:t>Domain validation (universityThemes.js)   ·   Membership cap enforcement (max_members)   ·   Optimistic UI state updates   ·   useMemo filter / sort computations   ·   Photo upload orchestration</a:t>
            </a:r>
            <a:endParaRPr lang="en-US" sz="1000" dirty="0"/>
          </a:p>
        </p:txBody>
      </p:sp>
      <p:sp>
        <p:nvSpPr>
          <p:cNvPr id="11" name="Text 9"/>
          <p:cNvSpPr/>
          <p:nvPr/>
        </p:nvSpPr>
        <p:spPr>
          <a:xfrm>
            <a:off x="4206240" y="3566160"/>
            <a:ext cx="731520" cy="164592"/>
          </a:xfrm>
          <a:prstGeom prst="rect">
            <a:avLst/>
          </a:prstGeom>
          <a:noFill/>
          <a:ln/>
        </p:spPr>
        <p:txBody>
          <a:bodyPr wrap="square" rtlCol="0" anchor="ctr"/>
          <a:lstStyle/>
          <a:p>
            <a:pPr marL="0" indent="0" algn="ctr">
              <a:buNone/>
            </a:pPr>
            <a:r>
              <a:rPr lang="en-US" sz="1400" b="1" dirty="0">
                <a:solidFill>
                  <a:srgbClr val="6B7280"/>
                </a:solidFill>
              </a:rPr>
              <a:t>↓</a:t>
            </a:r>
            <a:endParaRPr lang="en-US" sz="1400" dirty="0"/>
          </a:p>
        </p:txBody>
      </p:sp>
      <p:sp>
        <p:nvSpPr>
          <p:cNvPr id="12" name="Shape 10"/>
          <p:cNvSpPr/>
          <p:nvPr/>
        </p:nvSpPr>
        <p:spPr>
          <a:xfrm>
            <a:off x="411480" y="3730752"/>
            <a:ext cx="8321040" cy="1051560"/>
          </a:xfrm>
          <a:prstGeom prst="rect">
            <a:avLst/>
          </a:prstGeom>
          <a:solidFill>
            <a:srgbClr val="EDE9FE"/>
          </a:solidFill>
          <a:ln w="19050">
            <a:solidFill>
              <a:srgbClr val="7C3AED"/>
            </a:solidFill>
            <a:prstDash val="solid"/>
          </a:ln>
        </p:spPr>
        <p:txBody>
          <a:bodyPr/>
          <a:lstStyle/>
          <a:p>
            <a:endParaRPr lang="en-US"/>
          </a:p>
        </p:txBody>
      </p:sp>
      <p:sp>
        <p:nvSpPr>
          <p:cNvPr id="13" name="Text 11"/>
          <p:cNvSpPr/>
          <p:nvPr/>
        </p:nvSpPr>
        <p:spPr>
          <a:xfrm>
            <a:off x="548640" y="3803904"/>
            <a:ext cx="2011680" cy="292608"/>
          </a:xfrm>
          <a:prstGeom prst="rect">
            <a:avLst/>
          </a:prstGeom>
          <a:noFill/>
          <a:ln/>
        </p:spPr>
        <p:txBody>
          <a:bodyPr wrap="square" rtlCol="0" anchor="ctr"/>
          <a:lstStyle/>
          <a:p>
            <a:pPr marL="0" indent="0">
              <a:buNone/>
            </a:pPr>
            <a:r>
              <a:rPr lang="en-US" sz="1100" b="1" dirty="0">
                <a:solidFill>
                  <a:srgbClr val="7C3AED"/>
                </a:solidFill>
              </a:rPr>
              <a:t>Persistence Layer</a:t>
            </a:r>
            <a:endParaRPr lang="en-US" sz="1100" dirty="0"/>
          </a:p>
        </p:txBody>
      </p:sp>
      <p:sp>
        <p:nvSpPr>
          <p:cNvPr id="14" name="Text 12"/>
          <p:cNvSpPr/>
          <p:nvPr/>
        </p:nvSpPr>
        <p:spPr>
          <a:xfrm>
            <a:off x="548640" y="4114800"/>
            <a:ext cx="8046720" cy="548640"/>
          </a:xfrm>
          <a:prstGeom prst="rect">
            <a:avLst/>
          </a:prstGeom>
          <a:noFill/>
          <a:ln/>
        </p:spPr>
        <p:txBody>
          <a:bodyPr wrap="square" rtlCol="0" anchor="ctr"/>
          <a:lstStyle/>
          <a:p>
            <a:pPr marL="0" indent="0">
              <a:buNone/>
            </a:pPr>
            <a:r>
              <a:rPr lang="en-US" sz="1000" dirty="0">
                <a:solidFill>
                  <a:srgbClr val="374151"/>
                </a:solidFill>
              </a:rPr>
              <a:t>Supabase Auth (JWT + email verification)   ·   PostgreSQL: profiles · universities · study_groups · events · textbook_listings · event_rsvps · study_group_members   ·   Supabase Storage: avatars · textbook-images   ·   Row Level Security (RLS) policies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Challenges We Faced</a:t>
            </a:r>
            <a:endParaRPr lang="en-US" sz="3000" dirty="0"/>
          </a:p>
        </p:txBody>
      </p:sp>
      <p:sp>
        <p:nvSpPr>
          <p:cNvPr id="3" name="Shape 1"/>
          <p:cNvSpPr/>
          <p:nvPr/>
        </p:nvSpPr>
        <p:spPr>
          <a:xfrm>
            <a:off x="411480" y="1051560"/>
            <a:ext cx="40233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411480" y="1051560"/>
            <a:ext cx="64008" cy="1600200"/>
          </a:xfrm>
          <a:prstGeom prst="rect">
            <a:avLst/>
          </a:prstGeom>
          <a:solidFill>
            <a:srgbClr val="006633"/>
          </a:solidFill>
          <a:ln w="12700">
            <a:solidFill>
              <a:srgbClr val="006633"/>
            </a:solidFill>
            <a:prstDash val="solid"/>
          </a:ln>
        </p:spPr>
        <p:txBody>
          <a:bodyPr/>
          <a:lstStyle/>
          <a:p>
            <a:endParaRPr lang="en-US"/>
          </a:p>
        </p:txBody>
      </p:sp>
      <p:sp>
        <p:nvSpPr>
          <p:cNvPr id="5" name="Text 3"/>
          <p:cNvSpPr/>
          <p:nvPr/>
        </p:nvSpPr>
        <p:spPr>
          <a:xfrm>
            <a:off x="576072" y="1143000"/>
            <a:ext cx="3749040" cy="347472"/>
          </a:xfrm>
          <a:prstGeom prst="rect">
            <a:avLst/>
          </a:prstGeom>
          <a:noFill/>
          <a:ln/>
        </p:spPr>
        <p:txBody>
          <a:bodyPr wrap="square" rtlCol="0" anchor="ctr"/>
          <a:lstStyle/>
          <a:p>
            <a:pPr marL="0" indent="0">
              <a:buNone/>
            </a:pPr>
            <a:r>
              <a:rPr lang="en-US" sz="1100" b="1" dirty="0">
                <a:solidFill>
                  <a:srgbClr val="111111"/>
                </a:solidFill>
              </a:rPr>
              <a:t>01  Supabase Free Tier — Single Account</a:t>
            </a:r>
            <a:endParaRPr lang="en-US" sz="1100" dirty="0"/>
          </a:p>
        </p:txBody>
      </p:sp>
      <p:sp>
        <p:nvSpPr>
          <p:cNvPr id="6" name="Text 4"/>
          <p:cNvSpPr/>
          <p:nvPr/>
        </p:nvSpPr>
        <p:spPr>
          <a:xfrm>
            <a:off x="576072" y="1508760"/>
            <a:ext cx="3749040" cy="1005840"/>
          </a:xfrm>
          <a:prstGeom prst="rect">
            <a:avLst/>
          </a:prstGeom>
          <a:noFill/>
          <a:ln/>
        </p:spPr>
        <p:txBody>
          <a:bodyPr wrap="square" rtlCol="0" anchor="ctr"/>
          <a:lstStyle/>
          <a:p>
            <a:pPr marL="0" indent="0">
              <a:buNone/>
            </a:pPr>
            <a:r>
              <a:rPr lang="en-US" sz="950" dirty="0">
                <a:solidFill>
                  <a:srgbClr val="6B7280"/>
                </a:solidFill>
              </a:rPr>
              <a:t>The free tier doesn't support multi-user project access, so the entire team collaborated on schema design and SQL setup under one shared account. We mitigated this by committing the full schema to the repo as SQL files so all changes are version controlled.</a:t>
            </a:r>
            <a:endParaRPr lang="en-US" sz="950" dirty="0"/>
          </a:p>
        </p:txBody>
      </p:sp>
      <p:sp>
        <p:nvSpPr>
          <p:cNvPr id="7" name="Shape 5"/>
          <p:cNvSpPr/>
          <p:nvPr/>
        </p:nvSpPr>
        <p:spPr>
          <a:xfrm>
            <a:off x="4754880" y="1051560"/>
            <a:ext cx="40233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8" name="Shape 6"/>
          <p:cNvSpPr/>
          <p:nvPr/>
        </p:nvSpPr>
        <p:spPr>
          <a:xfrm>
            <a:off x="4754880" y="1051560"/>
            <a:ext cx="64008" cy="1600200"/>
          </a:xfrm>
          <a:prstGeom prst="rect">
            <a:avLst/>
          </a:prstGeom>
          <a:solidFill>
            <a:srgbClr val="006633"/>
          </a:solidFill>
          <a:ln w="12700">
            <a:solidFill>
              <a:srgbClr val="006633"/>
            </a:solidFill>
            <a:prstDash val="solid"/>
          </a:ln>
        </p:spPr>
        <p:txBody>
          <a:bodyPr/>
          <a:lstStyle/>
          <a:p>
            <a:endParaRPr lang="en-US"/>
          </a:p>
        </p:txBody>
      </p:sp>
      <p:sp>
        <p:nvSpPr>
          <p:cNvPr id="9" name="Text 7"/>
          <p:cNvSpPr/>
          <p:nvPr/>
        </p:nvSpPr>
        <p:spPr>
          <a:xfrm>
            <a:off x="4919472" y="1143000"/>
            <a:ext cx="3749040" cy="347472"/>
          </a:xfrm>
          <a:prstGeom prst="rect">
            <a:avLst/>
          </a:prstGeom>
          <a:noFill/>
          <a:ln/>
        </p:spPr>
        <p:txBody>
          <a:bodyPr wrap="square" rtlCol="0" anchor="ctr"/>
          <a:lstStyle/>
          <a:p>
            <a:pPr marL="0" indent="0">
              <a:buNone/>
            </a:pPr>
            <a:r>
              <a:rPr lang="en-US" sz="1100" b="1" dirty="0">
                <a:solidFill>
                  <a:srgbClr val="111111"/>
                </a:solidFill>
              </a:rPr>
              <a:t>02  Schema Mismatch on First Deploy</a:t>
            </a:r>
            <a:endParaRPr lang="en-US" sz="1100" dirty="0"/>
          </a:p>
        </p:txBody>
      </p:sp>
      <p:sp>
        <p:nvSpPr>
          <p:cNvPr id="10" name="Text 8"/>
          <p:cNvSpPr/>
          <p:nvPr/>
        </p:nvSpPr>
        <p:spPr>
          <a:xfrm>
            <a:off x="4919472" y="1508760"/>
            <a:ext cx="3749040" cy="1005840"/>
          </a:xfrm>
          <a:prstGeom prst="rect">
            <a:avLst/>
          </a:prstGeom>
          <a:noFill/>
          <a:ln/>
        </p:spPr>
        <p:txBody>
          <a:bodyPr wrap="square" rtlCol="0" anchor="ctr"/>
          <a:lstStyle/>
          <a:p>
            <a:pPr marL="0" indent="0">
              <a:buNone/>
            </a:pPr>
            <a:r>
              <a:rPr lang="en-US" sz="950" dirty="0">
                <a:solidFill>
                  <a:srgbClr val="6B7280"/>
                </a:solidFill>
              </a:rPr>
              <a:t>The original profile schema stored university as plain text. During implementation we discovered a normalized universities table with a foreign key integer was cleaner and more scalable. We migrated early before any user data existed, so the fix was low cost.</a:t>
            </a:r>
            <a:endParaRPr lang="en-US" sz="950" dirty="0"/>
          </a:p>
        </p:txBody>
      </p:sp>
      <p:sp>
        <p:nvSpPr>
          <p:cNvPr id="11" name="Shape 9"/>
          <p:cNvSpPr/>
          <p:nvPr/>
        </p:nvSpPr>
        <p:spPr>
          <a:xfrm>
            <a:off x="411480" y="2834640"/>
            <a:ext cx="40233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411480" y="2834640"/>
            <a:ext cx="64008" cy="1600200"/>
          </a:xfrm>
          <a:prstGeom prst="rect">
            <a:avLst/>
          </a:prstGeom>
          <a:solidFill>
            <a:srgbClr val="006633"/>
          </a:solidFill>
          <a:ln w="12700">
            <a:solidFill>
              <a:srgbClr val="006633"/>
            </a:solidFill>
            <a:prstDash val="solid"/>
          </a:ln>
        </p:spPr>
        <p:txBody>
          <a:bodyPr/>
          <a:lstStyle/>
          <a:p>
            <a:endParaRPr lang="en-US"/>
          </a:p>
        </p:txBody>
      </p:sp>
      <p:sp>
        <p:nvSpPr>
          <p:cNvPr id="13" name="Text 11"/>
          <p:cNvSpPr/>
          <p:nvPr/>
        </p:nvSpPr>
        <p:spPr>
          <a:xfrm>
            <a:off x="576072" y="2926080"/>
            <a:ext cx="3749040" cy="347472"/>
          </a:xfrm>
          <a:prstGeom prst="rect">
            <a:avLst/>
          </a:prstGeom>
          <a:noFill/>
          <a:ln/>
        </p:spPr>
        <p:txBody>
          <a:bodyPr wrap="square" rtlCol="0" anchor="ctr"/>
          <a:lstStyle/>
          <a:p>
            <a:pPr marL="0" indent="0">
              <a:buNone/>
            </a:pPr>
            <a:r>
              <a:rPr lang="en-US" sz="1100" b="1" dirty="0">
                <a:solidFill>
                  <a:srgbClr val="111111"/>
                </a:solidFill>
              </a:rPr>
              <a:t>03  RLS Policies + Anonymous Access</a:t>
            </a:r>
            <a:endParaRPr lang="en-US" sz="1100" dirty="0"/>
          </a:p>
        </p:txBody>
      </p:sp>
      <p:sp>
        <p:nvSpPr>
          <p:cNvPr id="14" name="Text 12"/>
          <p:cNvSpPr/>
          <p:nvPr/>
        </p:nvSpPr>
        <p:spPr>
          <a:xfrm>
            <a:off x="576072" y="3291840"/>
            <a:ext cx="3749040" cy="1005840"/>
          </a:xfrm>
          <a:prstGeom prst="rect">
            <a:avLst/>
          </a:prstGeom>
          <a:noFill/>
          <a:ln/>
        </p:spPr>
        <p:txBody>
          <a:bodyPr wrap="square" rtlCol="0" anchor="ctr"/>
          <a:lstStyle/>
          <a:p>
            <a:pPr marL="0" indent="0">
              <a:buNone/>
            </a:pPr>
            <a:r>
              <a:rPr lang="en-US" sz="950" dirty="0">
                <a:solidFill>
                  <a:srgbClr val="6B7280"/>
                </a:solidFill>
              </a:rPr>
              <a:t>Configuring Row Level Security correctly took several iterations. Early on, policies blocked even authenticated users from reading their own profiles. We resolved this by explicitly testing each policy before building UI on top of it.</a:t>
            </a:r>
            <a:endParaRPr lang="en-US" sz="950" dirty="0"/>
          </a:p>
        </p:txBody>
      </p:sp>
      <p:sp>
        <p:nvSpPr>
          <p:cNvPr id="15" name="Shape 13"/>
          <p:cNvSpPr/>
          <p:nvPr/>
        </p:nvSpPr>
        <p:spPr>
          <a:xfrm>
            <a:off x="4754880" y="2834640"/>
            <a:ext cx="4023360" cy="1600200"/>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4754880" y="2834640"/>
            <a:ext cx="64008" cy="1600200"/>
          </a:xfrm>
          <a:prstGeom prst="rect">
            <a:avLst/>
          </a:prstGeom>
          <a:solidFill>
            <a:srgbClr val="006633"/>
          </a:solidFill>
          <a:ln w="12700">
            <a:solidFill>
              <a:srgbClr val="006633"/>
            </a:solidFill>
            <a:prstDash val="solid"/>
          </a:ln>
        </p:spPr>
        <p:txBody>
          <a:bodyPr/>
          <a:lstStyle/>
          <a:p>
            <a:endParaRPr lang="en-US"/>
          </a:p>
        </p:txBody>
      </p:sp>
      <p:sp>
        <p:nvSpPr>
          <p:cNvPr id="17" name="Text 15"/>
          <p:cNvSpPr/>
          <p:nvPr/>
        </p:nvSpPr>
        <p:spPr>
          <a:xfrm>
            <a:off x="4919472" y="2926080"/>
            <a:ext cx="3749040" cy="347472"/>
          </a:xfrm>
          <a:prstGeom prst="rect">
            <a:avLst/>
          </a:prstGeom>
          <a:noFill/>
          <a:ln/>
        </p:spPr>
        <p:txBody>
          <a:bodyPr wrap="square" rtlCol="0" anchor="ctr"/>
          <a:lstStyle/>
          <a:p>
            <a:pPr marL="0" indent="0">
              <a:buNone/>
            </a:pPr>
            <a:r>
              <a:rPr lang="en-US" sz="1100" b="1" dirty="0">
                <a:solidFill>
                  <a:srgbClr val="111111"/>
                </a:solidFill>
              </a:rPr>
              <a:t>04  Business Logic in Components</a:t>
            </a:r>
            <a:endParaRPr lang="en-US" sz="1100" dirty="0"/>
          </a:p>
        </p:txBody>
      </p:sp>
      <p:sp>
        <p:nvSpPr>
          <p:cNvPr id="18" name="Text 16"/>
          <p:cNvSpPr/>
          <p:nvPr/>
        </p:nvSpPr>
        <p:spPr>
          <a:xfrm>
            <a:off x="4919472" y="3291840"/>
            <a:ext cx="3749040" cy="1005840"/>
          </a:xfrm>
          <a:prstGeom prst="rect">
            <a:avLst/>
          </a:prstGeom>
          <a:noFill/>
          <a:ln/>
        </p:spPr>
        <p:txBody>
          <a:bodyPr wrap="square" rtlCol="0" anchor="ctr"/>
          <a:lstStyle/>
          <a:p>
            <a:pPr marL="0" indent="0">
              <a:buNone/>
            </a:pPr>
            <a:r>
              <a:rPr lang="en-US" sz="950" dirty="0">
                <a:solidFill>
                  <a:srgbClr val="6B7280"/>
                </a:solidFill>
              </a:rPr>
              <a:t>Because React components call Supabase directly, some business logic (domain validation, membership cap) lives in components rather than a dedicated service layer. We extracted shared logic into universityThemes.js and reusable patterns to mitigate this.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Software Reuse</a:t>
            </a:r>
            <a:endParaRPr lang="en-US" sz="3000" dirty="0"/>
          </a:p>
        </p:txBody>
      </p:sp>
      <p:sp>
        <p:nvSpPr>
          <p:cNvPr id="3" name="Text 1"/>
          <p:cNvSpPr/>
          <p:nvPr/>
        </p:nvSpPr>
        <p:spPr>
          <a:xfrm>
            <a:off x="502920" y="804672"/>
            <a:ext cx="8229600" cy="320040"/>
          </a:xfrm>
          <a:prstGeom prst="rect">
            <a:avLst/>
          </a:prstGeom>
          <a:noFill/>
          <a:ln/>
        </p:spPr>
        <p:txBody>
          <a:bodyPr wrap="square" rtlCol="0" anchor="ctr"/>
          <a:lstStyle/>
          <a:p>
            <a:pPr marL="0" indent="0">
              <a:buNone/>
            </a:pPr>
            <a:r>
              <a:rPr lang="en-US" sz="1300" i="1" dirty="0">
                <a:solidFill>
                  <a:srgbClr val="6B7280"/>
                </a:solidFill>
              </a:rPr>
              <a:t>External libraries + internal shared patterns</a:t>
            </a:r>
            <a:endParaRPr lang="en-US" sz="1300" dirty="0"/>
          </a:p>
        </p:txBody>
      </p:sp>
      <p:sp>
        <p:nvSpPr>
          <p:cNvPr id="4" name="Shape 2"/>
          <p:cNvSpPr/>
          <p:nvPr/>
        </p:nvSpPr>
        <p:spPr>
          <a:xfrm>
            <a:off x="411480" y="1234440"/>
            <a:ext cx="8321040" cy="530352"/>
          </a:xfrm>
          <a:prstGeom prst="rect">
            <a:avLst/>
          </a:prstGeom>
          <a:solidFill>
            <a:srgbClr val="F9FAFB"/>
          </a:solidFill>
          <a:ln w="12700">
            <a:solidFill>
              <a:srgbClr val="E5E7EB"/>
            </a:solidFill>
            <a:prstDash val="solid"/>
          </a:ln>
        </p:spPr>
        <p:txBody>
          <a:bodyPr/>
          <a:lstStyle/>
          <a:p>
            <a:endParaRPr lang="en-US"/>
          </a:p>
        </p:txBody>
      </p:sp>
      <p:sp>
        <p:nvSpPr>
          <p:cNvPr id="5" name="Text 3"/>
          <p:cNvSpPr/>
          <p:nvPr/>
        </p:nvSpPr>
        <p:spPr>
          <a:xfrm>
            <a:off x="548640" y="1325880"/>
            <a:ext cx="2560320" cy="310896"/>
          </a:xfrm>
          <a:prstGeom prst="rect">
            <a:avLst/>
          </a:prstGeom>
          <a:noFill/>
          <a:ln/>
        </p:spPr>
        <p:txBody>
          <a:bodyPr wrap="square" rtlCol="0" anchor="ctr"/>
          <a:lstStyle/>
          <a:p>
            <a:pPr marL="0" indent="0">
              <a:buNone/>
            </a:pPr>
            <a:r>
              <a:rPr lang="en-US" sz="1050" b="1" dirty="0">
                <a:solidFill>
                  <a:srgbClr val="111111"/>
                </a:solidFill>
              </a:rPr>
              <a:t>Supabase JS Client</a:t>
            </a:r>
            <a:endParaRPr lang="en-US" sz="1050" dirty="0"/>
          </a:p>
        </p:txBody>
      </p:sp>
      <p:sp>
        <p:nvSpPr>
          <p:cNvPr id="6" name="Text 4"/>
          <p:cNvSpPr/>
          <p:nvPr/>
        </p:nvSpPr>
        <p:spPr>
          <a:xfrm>
            <a:off x="3200400" y="1325880"/>
            <a:ext cx="2194560" cy="310896"/>
          </a:xfrm>
          <a:prstGeom prst="rect">
            <a:avLst/>
          </a:prstGeom>
          <a:noFill/>
          <a:ln/>
        </p:spPr>
        <p:txBody>
          <a:bodyPr wrap="square" rtlCol="0" anchor="ctr"/>
          <a:lstStyle/>
          <a:p>
            <a:pPr marL="0" indent="0">
              <a:buNone/>
            </a:pPr>
            <a:r>
              <a:rPr lang="en-US" sz="1000" dirty="0">
                <a:solidFill>
                  <a:srgbClr val="006633"/>
                </a:solidFill>
              </a:rPr>
              <a:t>All components</a:t>
            </a:r>
            <a:endParaRPr lang="en-US" sz="1000" dirty="0"/>
          </a:p>
        </p:txBody>
      </p:sp>
      <p:sp>
        <p:nvSpPr>
          <p:cNvPr id="7" name="Text 5"/>
          <p:cNvSpPr/>
          <p:nvPr/>
        </p:nvSpPr>
        <p:spPr>
          <a:xfrm>
            <a:off x="5486400" y="1325880"/>
            <a:ext cx="3108960" cy="310896"/>
          </a:xfrm>
          <a:prstGeom prst="rect">
            <a:avLst/>
          </a:prstGeom>
          <a:noFill/>
          <a:ln/>
        </p:spPr>
        <p:txBody>
          <a:bodyPr wrap="square" rtlCol="0" anchor="ctr"/>
          <a:lstStyle/>
          <a:p>
            <a:pPr marL="0" indent="0">
              <a:buNone/>
            </a:pPr>
            <a:r>
              <a:rPr lang="en-US" sz="1000" dirty="0">
                <a:solidFill>
                  <a:srgbClr val="6B7280"/>
                </a:solidFill>
              </a:rPr>
              <a:t>Eliminated the need for a custom backend server entirely</a:t>
            </a:r>
            <a:endParaRPr lang="en-US" sz="1000" dirty="0"/>
          </a:p>
        </p:txBody>
      </p:sp>
      <p:sp>
        <p:nvSpPr>
          <p:cNvPr id="8" name="Shape 6"/>
          <p:cNvSpPr/>
          <p:nvPr/>
        </p:nvSpPr>
        <p:spPr>
          <a:xfrm>
            <a:off x="411480" y="1847088"/>
            <a:ext cx="8321040" cy="530352"/>
          </a:xfrm>
          <a:prstGeom prst="rect">
            <a:avLst/>
          </a:prstGeom>
          <a:solidFill>
            <a:srgbClr val="FFFFFF"/>
          </a:solidFill>
          <a:ln w="12700">
            <a:solidFill>
              <a:srgbClr val="E5E7EB"/>
            </a:solidFill>
            <a:prstDash val="solid"/>
          </a:ln>
        </p:spPr>
        <p:txBody>
          <a:bodyPr/>
          <a:lstStyle/>
          <a:p>
            <a:endParaRPr lang="en-US"/>
          </a:p>
        </p:txBody>
      </p:sp>
      <p:sp>
        <p:nvSpPr>
          <p:cNvPr id="9" name="Text 7"/>
          <p:cNvSpPr/>
          <p:nvPr/>
        </p:nvSpPr>
        <p:spPr>
          <a:xfrm>
            <a:off x="548640" y="1938528"/>
            <a:ext cx="2560320" cy="310896"/>
          </a:xfrm>
          <a:prstGeom prst="rect">
            <a:avLst/>
          </a:prstGeom>
          <a:noFill/>
          <a:ln/>
        </p:spPr>
        <p:txBody>
          <a:bodyPr wrap="square" rtlCol="0" anchor="ctr"/>
          <a:lstStyle/>
          <a:p>
            <a:pPr marL="0" indent="0">
              <a:buNone/>
            </a:pPr>
            <a:r>
              <a:rPr lang="en-US" sz="1050" b="1" dirty="0">
                <a:solidFill>
                  <a:srgbClr val="111111"/>
                </a:solidFill>
              </a:rPr>
              <a:t>React hooks (useState, useEffect, useMemo)</a:t>
            </a:r>
            <a:endParaRPr lang="en-US" sz="1050" dirty="0"/>
          </a:p>
        </p:txBody>
      </p:sp>
      <p:sp>
        <p:nvSpPr>
          <p:cNvPr id="10" name="Text 8"/>
          <p:cNvSpPr/>
          <p:nvPr/>
        </p:nvSpPr>
        <p:spPr>
          <a:xfrm>
            <a:off x="3200400" y="1938528"/>
            <a:ext cx="2194560" cy="310896"/>
          </a:xfrm>
          <a:prstGeom prst="rect">
            <a:avLst/>
          </a:prstGeom>
          <a:noFill/>
          <a:ln/>
        </p:spPr>
        <p:txBody>
          <a:bodyPr wrap="square" rtlCol="0" anchor="ctr"/>
          <a:lstStyle/>
          <a:p>
            <a:pPr marL="0" indent="0">
              <a:buNone/>
            </a:pPr>
            <a:r>
              <a:rPr lang="en-US" sz="1000" dirty="0">
                <a:solidFill>
                  <a:srgbClr val="006633"/>
                </a:solidFill>
              </a:rPr>
              <a:t>All components</a:t>
            </a:r>
            <a:endParaRPr lang="en-US" sz="1000" dirty="0"/>
          </a:p>
        </p:txBody>
      </p:sp>
      <p:sp>
        <p:nvSpPr>
          <p:cNvPr id="11" name="Text 9"/>
          <p:cNvSpPr/>
          <p:nvPr/>
        </p:nvSpPr>
        <p:spPr>
          <a:xfrm>
            <a:off x="5486400" y="1938528"/>
            <a:ext cx="3108960" cy="310896"/>
          </a:xfrm>
          <a:prstGeom prst="rect">
            <a:avLst/>
          </a:prstGeom>
          <a:noFill/>
          <a:ln/>
        </p:spPr>
        <p:txBody>
          <a:bodyPr wrap="square" rtlCol="0" anchor="ctr"/>
          <a:lstStyle/>
          <a:p>
            <a:pPr marL="0" indent="0">
              <a:buNone/>
            </a:pPr>
            <a:r>
              <a:rPr lang="en-US" sz="1000" dirty="0">
                <a:solidFill>
                  <a:srgbClr val="6B7280"/>
                </a:solidFill>
              </a:rPr>
              <a:t>useMemo avoids redundant filter recalculations on every render</a:t>
            </a:r>
            <a:endParaRPr lang="en-US" sz="1000" dirty="0"/>
          </a:p>
        </p:txBody>
      </p:sp>
      <p:sp>
        <p:nvSpPr>
          <p:cNvPr id="12" name="Shape 10"/>
          <p:cNvSpPr/>
          <p:nvPr/>
        </p:nvSpPr>
        <p:spPr>
          <a:xfrm>
            <a:off x="411480" y="2459736"/>
            <a:ext cx="8321040" cy="530352"/>
          </a:xfrm>
          <a:prstGeom prst="rect">
            <a:avLst/>
          </a:prstGeom>
          <a:solidFill>
            <a:srgbClr val="F9FAFB"/>
          </a:solidFill>
          <a:ln w="12700">
            <a:solidFill>
              <a:srgbClr val="E5E7EB"/>
            </a:solidFill>
            <a:prstDash val="solid"/>
          </a:ln>
        </p:spPr>
        <p:txBody>
          <a:bodyPr/>
          <a:lstStyle/>
          <a:p>
            <a:endParaRPr lang="en-US"/>
          </a:p>
        </p:txBody>
      </p:sp>
      <p:sp>
        <p:nvSpPr>
          <p:cNvPr id="13" name="Text 11"/>
          <p:cNvSpPr/>
          <p:nvPr/>
        </p:nvSpPr>
        <p:spPr>
          <a:xfrm>
            <a:off x="548640" y="2551176"/>
            <a:ext cx="2560320" cy="310896"/>
          </a:xfrm>
          <a:prstGeom prst="rect">
            <a:avLst/>
          </a:prstGeom>
          <a:noFill/>
          <a:ln/>
        </p:spPr>
        <p:txBody>
          <a:bodyPr wrap="square" rtlCol="0" anchor="ctr"/>
          <a:lstStyle/>
          <a:p>
            <a:pPr marL="0" indent="0">
              <a:buNone/>
            </a:pPr>
            <a:r>
              <a:rPr lang="en-US" sz="1050" b="1" dirty="0">
                <a:solidFill>
                  <a:srgbClr val="111111"/>
                </a:solidFill>
              </a:rPr>
              <a:t>Promise.all for parallel queries</a:t>
            </a:r>
            <a:endParaRPr lang="en-US" sz="1050" dirty="0"/>
          </a:p>
        </p:txBody>
      </p:sp>
      <p:sp>
        <p:nvSpPr>
          <p:cNvPr id="14" name="Text 12"/>
          <p:cNvSpPr/>
          <p:nvPr/>
        </p:nvSpPr>
        <p:spPr>
          <a:xfrm>
            <a:off x="3200400" y="2551176"/>
            <a:ext cx="2194560" cy="310896"/>
          </a:xfrm>
          <a:prstGeom prst="rect">
            <a:avLst/>
          </a:prstGeom>
          <a:noFill/>
          <a:ln/>
        </p:spPr>
        <p:txBody>
          <a:bodyPr wrap="square" rtlCol="0" anchor="ctr"/>
          <a:lstStyle/>
          <a:p>
            <a:pPr marL="0" indent="0">
              <a:buNone/>
            </a:pPr>
            <a:r>
              <a:rPr lang="en-US" sz="1000" dirty="0">
                <a:solidFill>
                  <a:srgbClr val="006633"/>
                </a:solidFill>
              </a:rPr>
              <a:t>StudyGroups · Events · Marketplace</a:t>
            </a:r>
            <a:endParaRPr lang="en-US" sz="1000" dirty="0"/>
          </a:p>
        </p:txBody>
      </p:sp>
      <p:sp>
        <p:nvSpPr>
          <p:cNvPr id="15" name="Text 13"/>
          <p:cNvSpPr/>
          <p:nvPr/>
        </p:nvSpPr>
        <p:spPr>
          <a:xfrm>
            <a:off x="5486400" y="2551176"/>
            <a:ext cx="3108960" cy="310896"/>
          </a:xfrm>
          <a:prstGeom prst="rect">
            <a:avLst/>
          </a:prstGeom>
          <a:noFill/>
          <a:ln/>
        </p:spPr>
        <p:txBody>
          <a:bodyPr wrap="square" rtlCol="0" anchor="ctr"/>
          <a:lstStyle/>
          <a:p>
            <a:pPr marL="0" indent="0">
              <a:buNone/>
            </a:pPr>
            <a:r>
              <a:rPr lang="en-US" sz="1000" dirty="0">
                <a:solidFill>
                  <a:srgbClr val="6B7280"/>
                </a:solidFill>
              </a:rPr>
              <a:t>Cuts data load time in half vs sequential awaits</a:t>
            </a:r>
            <a:endParaRPr lang="en-US" sz="1000" dirty="0"/>
          </a:p>
        </p:txBody>
      </p:sp>
      <p:sp>
        <p:nvSpPr>
          <p:cNvPr id="16" name="Shape 14"/>
          <p:cNvSpPr/>
          <p:nvPr/>
        </p:nvSpPr>
        <p:spPr>
          <a:xfrm>
            <a:off x="411480" y="3072384"/>
            <a:ext cx="8321040" cy="530352"/>
          </a:xfrm>
          <a:prstGeom prst="rect">
            <a:avLst/>
          </a:prstGeom>
          <a:solidFill>
            <a:srgbClr val="FFFFFF"/>
          </a:solidFill>
          <a:ln w="12700">
            <a:solidFill>
              <a:srgbClr val="E5E7EB"/>
            </a:solidFill>
            <a:prstDash val="solid"/>
          </a:ln>
        </p:spPr>
        <p:txBody>
          <a:bodyPr/>
          <a:lstStyle/>
          <a:p>
            <a:endParaRPr lang="en-US"/>
          </a:p>
        </p:txBody>
      </p:sp>
      <p:sp>
        <p:nvSpPr>
          <p:cNvPr id="17" name="Text 15"/>
          <p:cNvSpPr/>
          <p:nvPr/>
        </p:nvSpPr>
        <p:spPr>
          <a:xfrm>
            <a:off x="548640" y="3163824"/>
            <a:ext cx="2560320" cy="310896"/>
          </a:xfrm>
          <a:prstGeom prst="rect">
            <a:avLst/>
          </a:prstGeom>
          <a:noFill/>
          <a:ln/>
        </p:spPr>
        <p:txBody>
          <a:bodyPr wrap="square" rtlCol="0" anchor="ctr"/>
          <a:lstStyle/>
          <a:p>
            <a:pPr marL="0" indent="0">
              <a:buNone/>
            </a:pPr>
            <a:r>
              <a:rPr lang="en-US" sz="1050" b="1" dirty="0">
                <a:solidFill>
                  <a:srgbClr val="111111"/>
                </a:solidFill>
              </a:rPr>
              <a:t>Optimistic UI update pattern</a:t>
            </a:r>
            <a:endParaRPr lang="en-US" sz="1050" dirty="0"/>
          </a:p>
        </p:txBody>
      </p:sp>
      <p:sp>
        <p:nvSpPr>
          <p:cNvPr id="18" name="Text 16"/>
          <p:cNvSpPr/>
          <p:nvPr/>
        </p:nvSpPr>
        <p:spPr>
          <a:xfrm>
            <a:off x="3200400" y="3163824"/>
            <a:ext cx="2194560" cy="310896"/>
          </a:xfrm>
          <a:prstGeom prst="rect">
            <a:avLst/>
          </a:prstGeom>
          <a:noFill/>
          <a:ln/>
        </p:spPr>
        <p:txBody>
          <a:bodyPr wrap="square" rtlCol="0" anchor="ctr"/>
          <a:lstStyle/>
          <a:p>
            <a:pPr marL="0" indent="0">
              <a:buNone/>
            </a:pPr>
            <a:r>
              <a:rPr lang="en-US" sz="1000" dirty="0">
                <a:solidFill>
                  <a:srgbClr val="006633"/>
                </a:solidFill>
              </a:rPr>
              <a:t>StudyGroups → reused in CampusEvents</a:t>
            </a:r>
            <a:endParaRPr lang="en-US" sz="1000" dirty="0"/>
          </a:p>
        </p:txBody>
      </p:sp>
      <p:sp>
        <p:nvSpPr>
          <p:cNvPr id="19" name="Text 17"/>
          <p:cNvSpPr/>
          <p:nvPr/>
        </p:nvSpPr>
        <p:spPr>
          <a:xfrm>
            <a:off x="5486400" y="3163824"/>
            <a:ext cx="3108960" cy="310896"/>
          </a:xfrm>
          <a:prstGeom prst="rect">
            <a:avLst/>
          </a:prstGeom>
          <a:noFill/>
          <a:ln/>
        </p:spPr>
        <p:txBody>
          <a:bodyPr wrap="square" rtlCol="0" anchor="ctr"/>
          <a:lstStyle/>
          <a:p>
            <a:pPr marL="0" indent="0">
              <a:buNone/>
            </a:pPr>
            <a:r>
              <a:rPr lang="en-US" sz="1000" dirty="0">
                <a:solidFill>
                  <a:srgbClr val="6B7280"/>
                </a:solidFill>
              </a:rPr>
              <a:t>Consistent, snappy UX — state updates before Supabase confirms</a:t>
            </a:r>
            <a:endParaRPr lang="en-US" sz="1000" dirty="0"/>
          </a:p>
        </p:txBody>
      </p:sp>
      <p:sp>
        <p:nvSpPr>
          <p:cNvPr id="20" name="Shape 18"/>
          <p:cNvSpPr/>
          <p:nvPr/>
        </p:nvSpPr>
        <p:spPr>
          <a:xfrm>
            <a:off x="411480" y="3685032"/>
            <a:ext cx="8321040" cy="530352"/>
          </a:xfrm>
          <a:prstGeom prst="rect">
            <a:avLst/>
          </a:prstGeom>
          <a:solidFill>
            <a:srgbClr val="F9FAFB"/>
          </a:solidFill>
          <a:ln w="12700">
            <a:solidFill>
              <a:srgbClr val="E5E7EB"/>
            </a:solidFill>
            <a:prstDash val="solid"/>
          </a:ln>
        </p:spPr>
        <p:txBody>
          <a:bodyPr/>
          <a:lstStyle/>
          <a:p>
            <a:endParaRPr lang="en-US"/>
          </a:p>
        </p:txBody>
      </p:sp>
      <p:sp>
        <p:nvSpPr>
          <p:cNvPr id="21" name="Text 19"/>
          <p:cNvSpPr/>
          <p:nvPr/>
        </p:nvSpPr>
        <p:spPr>
          <a:xfrm>
            <a:off x="548640" y="3776472"/>
            <a:ext cx="2560320" cy="310896"/>
          </a:xfrm>
          <a:prstGeom prst="rect">
            <a:avLst/>
          </a:prstGeom>
          <a:noFill/>
          <a:ln/>
        </p:spPr>
        <p:txBody>
          <a:bodyPr wrap="square" rtlCol="0" anchor="ctr"/>
          <a:lstStyle/>
          <a:p>
            <a:pPr marL="0" indent="0">
              <a:buNone/>
            </a:pPr>
            <a:r>
              <a:rPr lang="en-US" sz="1050" b="1" dirty="0">
                <a:solidFill>
                  <a:srgbClr val="111111"/>
                </a:solidFill>
              </a:rPr>
              <a:t>Modal component pattern</a:t>
            </a:r>
            <a:endParaRPr lang="en-US" sz="1050" dirty="0"/>
          </a:p>
        </p:txBody>
      </p:sp>
      <p:sp>
        <p:nvSpPr>
          <p:cNvPr id="22" name="Text 20"/>
          <p:cNvSpPr/>
          <p:nvPr/>
        </p:nvSpPr>
        <p:spPr>
          <a:xfrm>
            <a:off x="3200400" y="3776472"/>
            <a:ext cx="2194560" cy="310896"/>
          </a:xfrm>
          <a:prstGeom prst="rect">
            <a:avLst/>
          </a:prstGeom>
          <a:noFill/>
          <a:ln/>
        </p:spPr>
        <p:txBody>
          <a:bodyPr wrap="square" rtlCol="0" anchor="ctr"/>
          <a:lstStyle/>
          <a:p>
            <a:pPr marL="0" indent="0">
              <a:buNone/>
            </a:pPr>
            <a:r>
              <a:rPr lang="en-US" sz="1000" dirty="0">
                <a:solidFill>
                  <a:srgbClr val="006633"/>
                </a:solidFill>
              </a:rPr>
              <a:t>ProfileEdit → all 4 feature modals</a:t>
            </a:r>
            <a:endParaRPr lang="en-US" sz="1000" dirty="0"/>
          </a:p>
        </p:txBody>
      </p:sp>
      <p:sp>
        <p:nvSpPr>
          <p:cNvPr id="23" name="Text 21"/>
          <p:cNvSpPr/>
          <p:nvPr/>
        </p:nvSpPr>
        <p:spPr>
          <a:xfrm>
            <a:off x="5486400" y="3776472"/>
            <a:ext cx="3108960" cy="310896"/>
          </a:xfrm>
          <a:prstGeom prst="rect">
            <a:avLst/>
          </a:prstGeom>
          <a:noFill/>
          <a:ln/>
        </p:spPr>
        <p:txBody>
          <a:bodyPr wrap="square" rtlCol="0" anchor="ctr"/>
          <a:lstStyle/>
          <a:p>
            <a:pPr marL="0" indent="0">
              <a:buNone/>
            </a:pPr>
            <a:r>
              <a:rPr lang="en-US" sz="1000" dirty="0">
                <a:solidFill>
                  <a:srgbClr val="6B7280"/>
                </a:solidFill>
              </a:rPr>
              <a:t>Consistent modal UX, written once, adapted 4 times</a:t>
            </a:r>
            <a:endParaRPr lang="en-US" sz="1000" dirty="0"/>
          </a:p>
        </p:txBody>
      </p:sp>
      <p:sp>
        <p:nvSpPr>
          <p:cNvPr id="24" name="Shape 22"/>
          <p:cNvSpPr/>
          <p:nvPr/>
        </p:nvSpPr>
        <p:spPr>
          <a:xfrm>
            <a:off x="411480" y="4297680"/>
            <a:ext cx="8321040" cy="530352"/>
          </a:xfrm>
          <a:prstGeom prst="rect">
            <a:avLst/>
          </a:prstGeom>
          <a:solidFill>
            <a:srgbClr val="FFFFFF"/>
          </a:solidFill>
          <a:ln w="12700">
            <a:solidFill>
              <a:srgbClr val="E5E7EB"/>
            </a:solidFill>
            <a:prstDash val="solid"/>
          </a:ln>
        </p:spPr>
        <p:txBody>
          <a:bodyPr/>
          <a:lstStyle/>
          <a:p>
            <a:endParaRPr lang="en-US"/>
          </a:p>
        </p:txBody>
      </p:sp>
      <p:sp>
        <p:nvSpPr>
          <p:cNvPr id="25" name="Text 23"/>
          <p:cNvSpPr/>
          <p:nvPr/>
        </p:nvSpPr>
        <p:spPr>
          <a:xfrm>
            <a:off x="548640" y="4389120"/>
            <a:ext cx="2560320" cy="310896"/>
          </a:xfrm>
          <a:prstGeom prst="rect">
            <a:avLst/>
          </a:prstGeom>
          <a:noFill/>
          <a:ln/>
        </p:spPr>
        <p:txBody>
          <a:bodyPr wrap="square" rtlCol="0" anchor="ctr"/>
          <a:lstStyle/>
          <a:p>
            <a:pPr marL="0" indent="0">
              <a:buNone/>
            </a:pPr>
            <a:r>
              <a:rPr lang="en-US" sz="1050" b="1" dirty="0">
                <a:solidFill>
                  <a:srgbClr val="111111"/>
                </a:solidFill>
              </a:rPr>
              <a:t>navigator.clipboard + mailto: href</a:t>
            </a:r>
            <a:endParaRPr lang="en-US" sz="1050" dirty="0"/>
          </a:p>
        </p:txBody>
      </p:sp>
      <p:sp>
        <p:nvSpPr>
          <p:cNvPr id="26" name="Text 24"/>
          <p:cNvSpPr/>
          <p:nvPr/>
        </p:nvSpPr>
        <p:spPr>
          <a:xfrm>
            <a:off x="3200400" y="4389120"/>
            <a:ext cx="2194560" cy="310896"/>
          </a:xfrm>
          <a:prstGeom prst="rect">
            <a:avLst/>
          </a:prstGeom>
          <a:noFill/>
          <a:ln/>
        </p:spPr>
        <p:txBody>
          <a:bodyPr wrap="square" rtlCol="0" anchor="ctr"/>
          <a:lstStyle/>
          <a:p>
            <a:pPr marL="0" indent="0">
              <a:buNone/>
            </a:pPr>
            <a:r>
              <a:rPr lang="en-US" sz="1000" dirty="0">
                <a:solidFill>
                  <a:srgbClr val="006633"/>
                </a:solidFill>
              </a:rPr>
              <a:t>TextbookMarketplace ContactModal</a:t>
            </a:r>
            <a:endParaRPr lang="en-US" sz="1000" dirty="0"/>
          </a:p>
        </p:txBody>
      </p:sp>
      <p:sp>
        <p:nvSpPr>
          <p:cNvPr id="27" name="Text 25"/>
          <p:cNvSpPr/>
          <p:nvPr/>
        </p:nvSpPr>
        <p:spPr>
          <a:xfrm>
            <a:off x="5486400" y="4389120"/>
            <a:ext cx="3108960" cy="310896"/>
          </a:xfrm>
          <a:prstGeom prst="rect">
            <a:avLst/>
          </a:prstGeom>
          <a:noFill/>
          <a:ln/>
        </p:spPr>
        <p:txBody>
          <a:bodyPr wrap="square" rtlCol="0" anchor="ctr"/>
          <a:lstStyle/>
          <a:p>
            <a:pPr marL="0" indent="0">
              <a:buNone/>
            </a:pPr>
            <a:r>
              <a:rPr lang="en-US" sz="1000" dirty="0">
                <a:solidFill>
                  <a:srgbClr val="6B7280"/>
                </a:solidFill>
              </a:rPr>
              <a:t>Native Web APIs — no backend needed for seller contact flow</a:t>
            </a:r>
            <a:endParaRPr lang="en-US" sz="1000" dirty="0"/>
          </a:p>
        </p:txBody>
      </p:sp>
      <p:sp>
        <p:nvSpPr>
          <p:cNvPr id="28" name="Text 26"/>
          <p:cNvSpPr/>
          <p:nvPr/>
        </p:nvSpPr>
        <p:spPr>
          <a:xfrm>
            <a:off x="548640" y="1097280"/>
            <a:ext cx="2560320" cy="201168"/>
          </a:xfrm>
          <a:prstGeom prst="rect">
            <a:avLst/>
          </a:prstGeom>
          <a:noFill/>
          <a:ln/>
        </p:spPr>
        <p:txBody>
          <a:bodyPr wrap="square" rtlCol="0" anchor="ctr"/>
          <a:lstStyle/>
          <a:p>
            <a:pPr marL="0" indent="0">
              <a:buNone/>
            </a:pPr>
            <a:r>
              <a:rPr lang="en-US" sz="900" b="1" dirty="0">
                <a:solidFill>
                  <a:srgbClr val="6B7280"/>
                </a:solidFill>
              </a:rPr>
              <a:t>WHAT</a:t>
            </a:r>
            <a:endParaRPr lang="en-US" sz="900" dirty="0"/>
          </a:p>
        </p:txBody>
      </p:sp>
      <p:sp>
        <p:nvSpPr>
          <p:cNvPr id="29" name="Text 27"/>
          <p:cNvSpPr/>
          <p:nvPr/>
        </p:nvSpPr>
        <p:spPr>
          <a:xfrm>
            <a:off x="3200400" y="1097280"/>
            <a:ext cx="2194560" cy="201168"/>
          </a:xfrm>
          <a:prstGeom prst="rect">
            <a:avLst/>
          </a:prstGeom>
          <a:noFill/>
          <a:ln/>
        </p:spPr>
        <p:txBody>
          <a:bodyPr wrap="square" rtlCol="0" anchor="ctr"/>
          <a:lstStyle/>
          <a:p>
            <a:pPr marL="0" indent="0">
              <a:buNone/>
            </a:pPr>
            <a:r>
              <a:rPr lang="en-US" sz="900" b="1" dirty="0">
                <a:solidFill>
                  <a:srgbClr val="6B7280"/>
                </a:solidFill>
              </a:rPr>
              <a:t>USED IN</a:t>
            </a:r>
            <a:endParaRPr lang="en-US" sz="900" dirty="0"/>
          </a:p>
        </p:txBody>
      </p:sp>
      <p:sp>
        <p:nvSpPr>
          <p:cNvPr id="30" name="Text 28"/>
          <p:cNvSpPr/>
          <p:nvPr/>
        </p:nvSpPr>
        <p:spPr>
          <a:xfrm>
            <a:off x="5486400" y="1097280"/>
            <a:ext cx="3108960" cy="201168"/>
          </a:xfrm>
          <a:prstGeom prst="rect">
            <a:avLst/>
          </a:prstGeom>
          <a:noFill/>
          <a:ln/>
        </p:spPr>
        <p:txBody>
          <a:bodyPr wrap="square" rtlCol="0" anchor="ctr"/>
          <a:lstStyle/>
          <a:p>
            <a:pPr marL="0" indent="0">
              <a:buNone/>
            </a:pPr>
            <a:r>
              <a:rPr lang="en-US" sz="900" b="1" dirty="0">
                <a:solidFill>
                  <a:srgbClr val="6B7280"/>
                </a:solidFill>
              </a:rPr>
              <a:t>WHY IT HELPED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548640"/>
          </a:xfrm>
          <a:prstGeom prst="rect">
            <a:avLst/>
          </a:prstGeom>
          <a:noFill/>
          <a:ln/>
        </p:spPr>
        <p:txBody>
          <a:bodyPr wrap="square" rtlCol="0" anchor="ctr"/>
          <a:lstStyle/>
          <a:p>
            <a:pPr marL="0" indent="0">
              <a:buNone/>
            </a:pPr>
            <a:r>
              <a:rPr lang="en-US" sz="3000" b="1" dirty="0">
                <a:solidFill>
                  <a:srgbClr val="111111"/>
                </a:solidFill>
                <a:latin typeface="Georgia" pitchFamily="34" charset="0"/>
                <a:ea typeface="Georgia" pitchFamily="34" charset="-122"/>
                <a:cs typeface="Georgia" pitchFamily="34" charset="-120"/>
              </a:rPr>
              <a:t>What We Delivered</a:t>
            </a:r>
            <a:endParaRPr lang="en-US" sz="3000" dirty="0"/>
          </a:p>
        </p:txBody>
      </p:sp>
      <p:sp>
        <p:nvSpPr>
          <p:cNvPr id="3" name="Shape 1"/>
          <p:cNvSpPr/>
          <p:nvPr/>
        </p:nvSpPr>
        <p:spPr>
          <a:xfrm>
            <a:off x="411480" y="1143000"/>
            <a:ext cx="8321040" cy="80467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4" name="Shape 2"/>
          <p:cNvSpPr/>
          <p:nvPr/>
        </p:nvSpPr>
        <p:spPr>
          <a:xfrm>
            <a:off x="5029200" y="1417320"/>
            <a:ext cx="3474720" cy="182880"/>
          </a:xfrm>
          <a:prstGeom prst="rect">
            <a:avLst/>
          </a:prstGeom>
          <a:solidFill>
            <a:srgbClr val="E5E7EB"/>
          </a:solidFill>
          <a:ln w="12700">
            <a:solidFill>
              <a:srgbClr val="E5E7EB"/>
            </a:solidFill>
            <a:prstDash val="solid"/>
          </a:ln>
        </p:spPr>
        <p:txBody>
          <a:bodyPr/>
          <a:lstStyle/>
          <a:p>
            <a:endParaRPr lang="en-US"/>
          </a:p>
        </p:txBody>
      </p:sp>
      <p:sp>
        <p:nvSpPr>
          <p:cNvPr id="5" name="Shape 3"/>
          <p:cNvSpPr/>
          <p:nvPr/>
        </p:nvSpPr>
        <p:spPr>
          <a:xfrm>
            <a:off x="5029200" y="1417320"/>
            <a:ext cx="3474720" cy="182880"/>
          </a:xfrm>
          <a:prstGeom prst="rect">
            <a:avLst/>
          </a:prstGeom>
          <a:solidFill>
            <a:srgbClr val="006633"/>
          </a:solidFill>
          <a:ln w="12700">
            <a:solidFill>
              <a:srgbClr val="006633"/>
            </a:solidFill>
            <a:prstDash val="solid"/>
          </a:ln>
        </p:spPr>
        <p:txBody>
          <a:bodyPr/>
          <a:lstStyle/>
          <a:p>
            <a:endParaRPr lang="en-US"/>
          </a:p>
        </p:txBody>
      </p:sp>
      <p:sp>
        <p:nvSpPr>
          <p:cNvPr id="6" name="Text 4"/>
          <p:cNvSpPr/>
          <p:nvPr/>
        </p:nvSpPr>
        <p:spPr>
          <a:xfrm>
            <a:off x="594360" y="1216152"/>
            <a:ext cx="4297680" cy="292608"/>
          </a:xfrm>
          <a:prstGeom prst="rect">
            <a:avLst/>
          </a:prstGeom>
          <a:noFill/>
          <a:ln/>
        </p:spPr>
        <p:txBody>
          <a:bodyPr wrap="square" rtlCol="0" anchor="ctr"/>
          <a:lstStyle/>
          <a:p>
            <a:pPr marL="0" indent="0">
              <a:buNone/>
            </a:pPr>
            <a:r>
              <a:rPr lang="en-US" sz="1200" b="1" dirty="0">
                <a:solidFill>
                  <a:srgbClr val="111111"/>
                </a:solidFill>
              </a:rPr>
              <a:t>Authentication &amp; Profiles</a:t>
            </a:r>
            <a:endParaRPr lang="en-US" sz="1200" dirty="0"/>
          </a:p>
        </p:txBody>
      </p:sp>
      <p:sp>
        <p:nvSpPr>
          <p:cNvPr id="7" name="Text 5"/>
          <p:cNvSpPr/>
          <p:nvPr/>
        </p:nvSpPr>
        <p:spPr>
          <a:xfrm>
            <a:off x="594360" y="1527048"/>
            <a:ext cx="4297680" cy="310896"/>
          </a:xfrm>
          <a:prstGeom prst="rect">
            <a:avLst/>
          </a:prstGeom>
          <a:noFill/>
          <a:ln/>
        </p:spPr>
        <p:txBody>
          <a:bodyPr wrap="square" rtlCol="0" anchor="ctr"/>
          <a:lstStyle/>
          <a:p>
            <a:pPr marL="0" indent="0">
              <a:buNone/>
            </a:pPr>
            <a:r>
              <a:rPr lang="en-US" sz="950" dirty="0">
                <a:solidFill>
                  <a:srgbClr val="6B7280"/>
                </a:solidFill>
              </a:rPr>
              <a:t>Sign up, login, domain validation, profile setup/edit, photo upload, per-university theming, forgot password</a:t>
            </a:r>
            <a:endParaRPr lang="en-US" sz="950" dirty="0"/>
          </a:p>
        </p:txBody>
      </p:sp>
      <p:sp>
        <p:nvSpPr>
          <p:cNvPr id="8" name="Text 6"/>
          <p:cNvSpPr/>
          <p:nvPr/>
        </p:nvSpPr>
        <p:spPr>
          <a:xfrm>
            <a:off x="5029200" y="1216152"/>
            <a:ext cx="3474720" cy="228600"/>
          </a:xfrm>
          <a:prstGeom prst="rect">
            <a:avLst/>
          </a:prstGeom>
          <a:noFill/>
          <a:ln/>
        </p:spPr>
        <p:txBody>
          <a:bodyPr wrap="square" rtlCol="0" anchor="ctr"/>
          <a:lstStyle/>
          <a:p>
            <a:pPr marL="0" indent="0" algn="r">
              <a:buNone/>
            </a:pPr>
            <a:r>
              <a:rPr lang="en-US" sz="1100" b="1" dirty="0">
                <a:solidFill>
                  <a:srgbClr val="006633"/>
                </a:solidFill>
              </a:rPr>
              <a:t>100% implemented</a:t>
            </a:r>
            <a:endParaRPr lang="en-US" sz="1100" dirty="0"/>
          </a:p>
        </p:txBody>
      </p:sp>
      <p:sp>
        <p:nvSpPr>
          <p:cNvPr id="9" name="Shape 7"/>
          <p:cNvSpPr/>
          <p:nvPr/>
        </p:nvSpPr>
        <p:spPr>
          <a:xfrm>
            <a:off x="411480" y="2057400"/>
            <a:ext cx="8321040" cy="80467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5029200" y="2331720"/>
            <a:ext cx="3474720" cy="182880"/>
          </a:xfrm>
          <a:prstGeom prst="rect">
            <a:avLst/>
          </a:prstGeom>
          <a:solidFill>
            <a:srgbClr val="E5E7EB"/>
          </a:solidFill>
          <a:ln w="12700">
            <a:solidFill>
              <a:srgbClr val="E5E7EB"/>
            </a:solidFill>
            <a:prstDash val="solid"/>
          </a:ln>
        </p:spPr>
        <p:txBody>
          <a:bodyPr/>
          <a:lstStyle/>
          <a:p>
            <a:endParaRPr lang="en-US"/>
          </a:p>
        </p:txBody>
      </p:sp>
      <p:sp>
        <p:nvSpPr>
          <p:cNvPr id="11" name="Shape 9"/>
          <p:cNvSpPr/>
          <p:nvPr/>
        </p:nvSpPr>
        <p:spPr>
          <a:xfrm>
            <a:off x="5029200" y="2331720"/>
            <a:ext cx="3474720" cy="182880"/>
          </a:xfrm>
          <a:prstGeom prst="rect">
            <a:avLst/>
          </a:prstGeom>
          <a:solidFill>
            <a:srgbClr val="006633"/>
          </a:solidFill>
          <a:ln w="12700">
            <a:solidFill>
              <a:srgbClr val="006633"/>
            </a:solidFill>
            <a:prstDash val="solid"/>
          </a:ln>
        </p:spPr>
        <p:txBody>
          <a:bodyPr/>
          <a:lstStyle/>
          <a:p>
            <a:endParaRPr lang="en-US"/>
          </a:p>
        </p:txBody>
      </p:sp>
      <p:sp>
        <p:nvSpPr>
          <p:cNvPr id="12" name="Text 10"/>
          <p:cNvSpPr/>
          <p:nvPr/>
        </p:nvSpPr>
        <p:spPr>
          <a:xfrm>
            <a:off x="594360" y="2130552"/>
            <a:ext cx="4297680" cy="292608"/>
          </a:xfrm>
          <a:prstGeom prst="rect">
            <a:avLst/>
          </a:prstGeom>
          <a:noFill/>
          <a:ln/>
        </p:spPr>
        <p:txBody>
          <a:bodyPr wrap="square" rtlCol="0" anchor="ctr"/>
          <a:lstStyle/>
          <a:p>
            <a:pPr marL="0" indent="0">
              <a:buNone/>
            </a:pPr>
            <a:r>
              <a:rPr lang="en-US" sz="1200" b="1" dirty="0">
                <a:solidFill>
                  <a:srgbClr val="111111"/>
                </a:solidFill>
              </a:rPr>
              <a:t>Study Group Organizer</a:t>
            </a:r>
            <a:endParaRPr lang="en-US" sz="1200" dirty="0"/>
          </a:p>
        </p:txBody>
      </p:sp>
      <p:sp>
        <p:nvSpPr>
          <p:cNvPr id="13" name="Text 11"/>
          <p:cNvSpPr/>
          <p:nvPr/>
        </p:nvSpPr>
        <p:spPr>
          <a:xfrm>
            <a:off x="594360" y="2441448"/>
            <a:ext cx="4297680" cy="310896"/>
          </a:xfrm>
          <a:prstGeom prst="rect">
            <a:avLst/>
          </a:prstGeom>
          <a:noFill/>
          <a:ln/>
        </p:spPr>
        <p:txBody>
          <a:bodyPr wrap="square" rtlCol="0" anchor="ctr"/>
          <a:lstStyle/>
          <a:p>
            <a:pPr marL="0" indent="0">
              <a:buNone/>
            </a:pPr>
            <a:r>
              <a:rPr lang="en-US" sz="950" dirty="0">
                <a:solidFill>
                  <a:srgbClr val="6B7280"/>
                </a:solidFill>
              </a:rPr>
              <a:t>Create, browse, join/leave, delete, member count, capacity enforcement, search + filter tabs</a:t>
            </a:r>
            <a:endParaRPr lang="en-US" sz="950" dirty="0"/>
          </a:p>
        </p:txBody>
      </p:sp>
      <p:sp>
        <p:nvSpPr>
          <p:cNvPr id="14" name="Text 12"/>
          <p:cNvSpPr/>
          <p:nvPr/>
        </p:nvSpPr>
        <p:spPr>
          <a:xfrm>
            <a:off x="5029200" y="2130552"/>
            <a:ext cx="3474720" cy="228600"/>
          </a:xfrm>
          <a:prstGeom prst="rect">
            <a:avLst/>
          </a:prstGeom>
          <a:noFill/>
          <a:ln/>
        </p:spPr>
        <p:txBody>
          <a:bodyPr wrap="square" rtlCol="0" anchor="ctr"/>
          <a:lstStyle/>
          <a:p>
            <a:pPr marL="0" indent="0" algn="r">
              <a:buNone/>
            </a:pPr>
            <a:r>
              <a:rPr lang="en-US" sz="1100" b="1" dirty="0">
                <a:solidFill>
                  <a:srgbClr val="006633"/>
                </a:solidFill>
              </a:rPr>
              <a:t>100% implemented</a:t>
            </a:r>
            <a:endParaRPr lang="en-US" sz="1100" dirty="0"/>
          </a:p>
        </p:txBody>
      </p:sp>
      <p:sp>
        <p:nvSpPr>
          <p:cNvPr id="15" name="Shape 13"/>
          <p:cNvSpPr/>
          <p:nvPr/>
        </p:nvSpPr>
        <p:spPr>
          <a:xfrm>
            <a:off x="411480" y="2971800"/>
            <a:ext cx="8321040" cy="80467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5029200" y="3246120"/>
            <a:ext cx="3474720" cy="182880"/>
          </a:xfrm>
          <a:prstGeom prst="rect">
            <a:avLst/>
          </a:prstGeom>
          <a:solidFill>
            <a:srgbClr val="E5E7EB"/>
          </a:solidFill>
          <a:ln w="12700">
            <a:solidFill>
              <a:srgbClr val="E5E7EB"/>
            </a:solidFill>
            <a:prstDash val="solid"/>
          </a:ln>
        </p:spPr>
        <p:txBody>
          <a:bodyPr/>
          <a:lstStyle/>
          <a:p>
            <a:endParaRPr lang="en-US"/>
          </a:p>
        </p:txBody>
      </p:sp>
      <p:sp>
        <p:nvSpPr>
          <p:cNvPr id="17" name="Shape 15"/>
          <p:cNvSpPr/>
          <p:nvPr/>
        </p:nvSpPr>
        <p:spPr>
          <a:xfrm>
            <a:off x="5029200" y="3246120"/>
            <a:ext cx="3474720" cy="182880"/>
          </a:xfrm>
          <a:prstGeom prst="rect">
            <a:avLst/>
          </a:prstGeom>
          <a:solidFill>
            <a:srgbClr val="006633"/>
          </a:solidFill>
          <a:ln w="12700">
            <a:solidFill>
              <a:srgbClr val="006633"/>
            </a:solidFill>
            <a:prstDash val="solid"/>
          </a:ln>
        </p:spPr>
        <p:txBody>
          <a:bodyPr/>
          <a:lstStyle/>
          <a:p>
            <a:endParaRPr lang="en-US"/>
          </a:p>
        </p:txBody>
      </p:sp>
      <p:sp>
        <p:nvSpPr>
          <p:cNvPr id="18" name="Text 16"/>
          <p:cNvSpPr/>
          <p:nvPr/>
        </p:nvSpPr>
        <p:spPr>
          <a:xfrm>
            <a:off x="594360" y="3044952"/>
            <a:ext cx="4297680" cy="292608"/>
          </a:xfrm>
          <a:prstGeom prst="rect">
            <a:avLst/>
          </a:prstGeom>
          <a:noFill/>
          <a:ln/>
        </p:spPr>
        <p:txBody>
          <a:bodyPr wrap="square" rtlCol="0" anchor="ctr"/>
          <a:lstStyle/>
          <a:p>
            <a:pPr marL="0" indent="0">
              <a:buNone/>
            </a:pPr>
            <a:r>
              <a:rPr lang="en-US" sz="1200" b="1" dirty="0">
                <a:solidFill>
                  <a:srgbClr val="111111"/>
                </a:solidFill>
              </a:rPr>
              <a:t>Campus Event Board</a:t>
            </a:r>
            <a:endParaRPr lang="en-US" sz="1200" dirty="0"/>
          </a:p>
        </p:txBody>
      </p:sp>
      <p:sp>
        <p:nvSpPr>
          <p:cNvPr id="19" name="Text 17"/>
          <p:cNvSpPr/>
          <p:nvPr/>
        </p:nvSpPr>
        <p:spPr>
          <a:xfrm>
            <a:off x="594360" y="3355848"/>
            <a:ext cx="4297680" cy="310896"/>
          </a:xfrm>
          <a:prstGeom prst="rect">
            <a:avLst/>
          </a:prstGeom>
          <a:noFill/>
          <a:ln/>
        </p:spPr>
        <p:txBody>
          <a:bodyPr wrap="square" rtlCol="0" anchor="ctr"/>
          <a:lstStyle/>
          <a:p>
            <a:pPr marL="0" indent="0">
              <a:buNone/>
            </a:pPr>
            <a:r>
              <a:rPr lang="en-US" sz="950" dirty="0">
                <a:solidFill>
                  <a:srgbClr val="6B7280"/>
                </a:solidFill>
              </a:rPr>
              <a:t>Post, browse, RSVP toggle, delete, upcoming/past split, search + filter tabs</a:t>
            </a:r>
            <a:endParaRPr lang="en-US" sz="950" dirty="0"/>
          </a:p>
        </p:txBody>
      </p:sp>
      <p:sp>
        <p:nvSpPr>
          <p:cNvPr id="20" name="Text 18"/>
          <p:cNvSpPr/>
          <p:nvPr/>
        </p:nvSpPr>
        <p:spPr>
          <a:xfrm>
            <a:off x="5029200" y="3044952"/>
            <a:ext cx="3474720" cy="228600"/>
          </a:xfrm>
          <a:prstGeom prst="rect">
            <a:avLst/>
          </a:prstGeom>
          <a:noFill/>
          <a:ln/>
        </p:spPr>
        <p:txBody>
          <a:bodyPr wrap="square" rtlCol="0" anchor="ctr"/>
          <a:lstStyle/>
          <a:p>
            <a:pPr marL="0" indent="0" algn="r">
              <a:buNone/>
            </a:pPr>
            <a:r>
              <a:rPr lang="en-US" sz="1100" b="1" dirty="0">
                <a:solidFill>
                  <a:srgbClr val="006633"/>
                </a:solidFill>
              </a:rPr>
              <a:t>100% implemented</a:t>
            </a:r>
            <a:endParaRPr lang="en-US" sz="1100" dirty="0"/>
          </a:p>
        </p:txBody>
      </p:sp>
      <p:sp>
        <p:nvSpPr>
          <p:cNvPr id="21" name="Shape 19"/>
          <p:cNvSpPr/>
          <p:nvPr/>
        </p:nvSpPr>
        <p:spPr>
          <a:xfrm>
            <a:off x="411480" y="3886200"/>
            <a:ext cx="8321040" cy="804672"/>
          </a:xfrm>
          <a:prstGeom prst="rect">
            <a:avLst/>
          </a:prstGeom>
          <a:solidFill>
            <a:srgbClr val="FFFFFF"/>
          </a:solidFill>
          <a:ln w="12700">
            <a:solidFill>
              <a:srgbClr val="E5E7EB"/>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5029200" y="4160520"/>
            <a:ext cx="3474720" cy="182880"/>
          </a:xfrm>
          <a:prstGeom prst="rect">
            <a:avLst/>
          </a:prstGeom>
          <a:solidFill>
            <a:srgbClr val="E5E7EB"/>
          </a:solidFill>
          <a:ln w="12700">
            <a:solidFill>
              <a:srgbClr val="E5E7EB"/>
            </a:solidFill>
            <a:prstDash val="solid"/>
          </a:ln>
        </p:spPr>
        <p:txBody>
          <a:bodyPr/>
          <a:lstStyle/>
          <a:p>
            <a:endParaRPr lang="en-US"/>
          </a:p>
        </p:txBody>
      </p:sp>
      <p:sp>
        <p:nvSpPr>
          <p:cNvPr id="23" name="Shape 21"/>
          <p:cNvSpPr/>
          <p:nvPr/>
        </p:nvSpPr>
        <p:spPr>
          <a:xfrm>
            <a:off x="5029200" y="4160520"/>
            <a:ext cx="3474720" cy="182880"/>
          </a:xfrm>
          <a:prstGeom prst="rect">
            <a:avLst/>
          </a:prstGeom>
          <a:solidFill>
            <a:srgbClr val="006633"/>
          </a:solidFill>
          <a:ln w="12700">
            <a:solidFill>
              <a:srgbClr val="006633"/>
            </a:solidFill>
            <a:prstDash val="solid"/>
          </a:ln>
        </p:spPr>
        <p:txBody>
          <a:bodyPr/>
          <a:lstStyle/>
          <a:p>
            <a:endParaRPr lang="en-US"/>
          </a:p>
        </p:txBody>
      </p:sp>
      <p:sp>
        <p:nvSpPr>
          <p:cNvPr id="24" name="Text 22"/>
          <p:cNvSpPr/>
          <p:nvPr/>
        </p:nvSpPr>
        <p:spPr>
          <a:xfrm>
            <a:off x="594360" y="3959352"/>
            <a:ext cx="4297680" cy="292608"/>
          </a:xfrm>
          <a:prstGeom prst="rect">
            <a:avLst/>
          </a:prstGeom>
          <a:noFill/>
          <a:ln/>
        </p:spPr>
        <p:txBody>
          <a:bodyPr wrap="square" rtlCol="0" anchor="ctr"/>
          <a:lstStyle/>
          <a:p>
            <a:pPr marL="0" indent="0">
              <a:buNone/>
            </a:pPr>
            <a:r>
              <a:rPr lang="en-US" sz="1200" b="1" dirty="0">
                <a:solidFill>
                  <a:srgbClr val="111111"/>
                </a:solidFill>
              </a:rPr>
              <a:t>Textbook Marketplace</a:t>
            </a:r>
            <a:endParaRPr lang="en-US" sz="1200" dirty="0"/>
          </a:p>
        </p:txBody>
      </p:sp>
      <p:sp>
        <p:nvSpPr>
          <p:cNvPr id="25" name="Text 23"/>
          <p:cNvSpPr/>
          <p:nvPr/>
        </p:nvSpPr>
        <p:spPr>
          <a:xfrm>
            <a:off x="594360" y="4270248"/>
            <a:ext cx="4297680" cy="310896"/>
          </a:xfrm>
          <a:prstGeom prst="rect">
            <a:avLst/>
          </a:prstGeom>
          <a:noFill/>
          <a:ln/>
        </p:spPr>
        <p:txBody>
          <a:bodyPr wrap="square" rtlCol="0" anchor="ctr"/>
          <a:lstStyle/>
          <a:p>
            <a:pPr marL="0" indent="0">
              <a:buNone/>
            </a:pPr>
            <a:r>
              <a:rPr lang="en-US" sz="950" dirty="0">
                <a:solidFill>
                  <a:srgbClr val="6B7280"/>
                </a:solidFill>
              </a:rPr>
              <a:t>List, browse, condition filter, sort, contact seller (email + mailto), mark sold, delete, photo upload</a:t>
            </a:r>
            <a:endParaRPr lang="en-US" sz="950" dirty="0"/>
          </a:p>
        </p:txBody>
      </p:sp>
      <p:sp>
        <p:nvSpPr>
          <p:cNvPr id="26" name="Text 24"/>
          <p:cNvSpPr/>
          <p:nvPr/>
        </p:nvSpPr>
        <p:spPr>
          <a:xfrm>
            <a:off x="5029200" y="3959352"/>
            <a:ext cx="3474720" cy="228600"/>
          </a:xfrm>
          <a:prstGeom prst="rect">
            <a:avLst/>
          </a:prstGeom>
          <a:noFill/>
          <a:ln/>
        </p:spPr>
        <p:txBody>
          <a:bodyPr wrap="square" rtlCol="0" anchor="ctr"/>
          <a:lstStyle/>
          <a:p>
            <a:pPr marL="0" indent="0" algn="r">
              <a:buNone/>
            </a:pPr>
            <a:r>
              <a:rPr lang="en-US" sz="1100" b="1" dirty="0">
                <a:solidFill>
                  <a:srgbClr val="006633"/>
                </a:solidFill>
              </a:rPr>
              <a:t>100% implemented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6633"/>
        </a:solidFill>
        <a:effectLst/>
      </p:bgPr>
    </p:bg>
    <p:spTree>
      <p:nvGrpSpPr>
        <p:cNvPr id="1" name=""/>
        <p:cNvGrpSpPr/>
        <p:nvPr/>
      </p:nvGrpSpPr>
      <p:grpSpPr>
        <a:xfrm>
          <a:off x="0" y="0"/>
          <a:ext cx="0" cy="0"/>
          <a:chOff x="0" y="0"/>
          <a:chExt cx="0" cy="0"/>
        </a:xfrm>
      </p:grpSpPr>
      <p:sp>
        <p:nvSpPr>
          <p:cNvPr id="2" name="Text 0"/>
          <p:cNvSpPr/>
          <p:nvPr/>
        </p:nvSpPr>
        <p:spPr>
          <a:xfrm>
            <a:off x="914400" y="1097280"/>
            <a:ext cx="7315200" cy="91440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Campus Buddy</a:t>
            </a:r>
            <a:endParaRPr lang="en-US" sz="5200" dirty="0"/>
          </a:p>
        </p:txBody>
      </p:sp>
      <p:sp>
        <p:nvSpPr>
          <p:cNvPr id="3" name="Text 1"/>
          <p:cNvSpPr/>
          <p:nvPr/>
        </p:nvSpPr>
        <p:spPr>
          <a:xfrm>
            <a:off x="914400" y="2103120"/>
            <a:ext cx="7315200" cy="502920"/>
          </a:xfrm>
          <a:prstGeom prst="rect">
            <a:avLst/>
          </a:prstGeom>
          <a:noFill/>
          <a:ln/>
        </p:spPr>
        <p:txBody>
          <a:bodyPr wrap="square" rtlCol="0" anchor="ctr"/>
          <a:lstStyle/>
          <a:p>
            <a:pPr marL="0" indent="0" algn="ctr">
              <a:buNone/>
            </a:pPr>
            <a:r>
              <a:rPr lang="en-US" sz="2000" i="1" dirty="0">
                <a:solidFill>
                  <a:srgbClr val="FFCC00"/>
                </a:solidFill>
                <a:latin typeface="Georgia" pitchFamily="34" charset="0"/>
                <a:ea typeface="Georgia" pitchFamily="34" charset="-122"/>
                <a:cs typeface="Georgia" pitchFamily="34" charset="-120"/>
              </a:rPr>
              <a:t>4 features. 7 universities. 1 verified platform.</a:t>
            </a:r>
            <a:endParaRPr lang="en-US" sz="2000" dirty="0"/>
          </a:p>
        </p:txBody>
      </p:sp>
      <p:sp>
        <p:nvSpPr>
          <p:cNvPr id="4" name="Text 2"/>
          <p:cNvSpPr/>
          <p:nvPr/>
        </p:nvSpPr>
        <p:spPr>
          <a:xfrm>
            <a:off x="914400" y="2926080"/>
            <a:ext cx="7315200" cy="365760"/>
          </a:xfrm>
          <a:prstGeom prst="rect">
            <a:avLst/>
          </a:prstGeom>
          <a:noFill/>
          <a:ln/>
        </p:spPr>
        <p:txBody>
          <a:bodyPr wrap="square" rtlCol="0" anchor="ctr"/>
          <a:lstStyle/>
          <a:p>
            <a:pPr marL="0" indent="0" algn="ctr">
              <a:buNone/>
            </a:pPr>
            <a:r>
              <a:rPr lang="en-US" sz="1300" dirty="0">
                <a:solidFill>
                  <a:srgbClr val="AACCAA"/>
                </a:solidFill>
              </a:rPr>
              <a:t>github.com/AinzOoalGown1356/Campus-Buddy</a:t>
            </a:r>
            <a:endParaRPr lang="en-US" sz="1300" dirty="0"/>
          </a:p>
        </p:txBody>
      </p:sp>
      <p:sp>
        <p:nvSpPr>
          <p:cNvPr id="5" name="Text 3"/>
          <p:cNvSpPr/>
          <p:nvPr/>
        </p:nvSpPr>
        <p:spPr>
          <a:xfrm>
            <a:off x="457200" y="4114800"/>
            <a:ext cx="8229600" cy="320040"/>
          </a:xfrm>
          <a:prstGeom prst="rect">
            <a:avLst/>
          </a:prstGeom>
          <a:noFill/>
          <a:ln/>
        </p:spPr>
        <p:txBody>
          <a:bodyPr wrap="square" rtlCol="0" anchor="ctr"/>
          <a:lstStyle/>
          <a:p>
            <a:pPr marL="0" indent="0" algn="ctr">
              <a:buNone/>
            </a:pPr>
            <a:r>
              <a:rPr lang="en-US" sz="1100" dirty="0">
                <a:solidFill>
                  <a:srgbClr val="99BB99"/>
                </a:solidFill>
              </a:rPr>
              <a:t>Shayan Khan  ·  Noe Flores  ·  Aser Eshetu  ·  Enoch Ogunfiditimi  ·  Kayla Suttihprapa</a:t>
            </a:r>
            <a:endParaRPr lang="en-US" sz="1100" dirty="0"/>
          </a:p>
        </p:txBody>
      </p:sp>
      <p:sp>
        <p:nvSpPr>
          <p:cNvPr id="6" name="Text 4"/>
          <p:cNvSpPr/>
          <p:nvPr/>
        </p:nvSpPr>
        <p:spPr>
          <a:xfrm>
            <a:off x="457200" y="4434840"/>
            <a:ext cx="8229600" cy="274320"/>
          </a:xfrm>
          <a:prstGeom prst="rect">
            <a:avLst/>
          </a:prstGeom>
          <a:noFill/>
          <a:ln/>
        </p:spPr>
        <p:txBody>
          <a:bodyPr wrap="square" rtlCol="0" anchor="ctr"/>
          <a:lstStyle/>
          <a:p>
            <a:pPr marL="0" indent="0" algn="ctr">
              <a:buNone/>
            </a:pPr>
            <a:r>
              <a:rPr lang="en-US" sz="1000" dirty="0">
                <a:solidFill>
                  <a:srgbClr val="88AA88"/>
                </a:solidFill>
              </a:rPr>
              <a:t>CS 321  ·  Spring 2026  ·  Prof. Dr. David Samudio</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0"/>
        </a:solidFill>
        <a:effectLst/>
      </p:bgPr>
    </p:bg>
    <p:spTree>
      <p:nvGrpSpPr>
        <p:cNvPr id="1" name=""/>
        <p:cNvGrpSpPr/>
        <p:nvPr/>
      </p:nvGrpSpPr>
      <p:grpSpPr>
        <a:xfrm>
          <a:off x="0" y="0"/>
          <a:ext cx="0" cy="0"/>
          <a:chOff x="0" y="0"/>
          <a:chExt cx="0" cy="0"/>
        </a:xfrm>
      </p:grpSpPr>
      <p:sp>
        <p:nvSpPr>
          <p:cNvPr id="2" name="Title"/>
          <p:cNvSpPr/>
          <p:nvPr/>
        </p:nvSpPr>
        <p:spPr>
          <a:xfrm>
            <a:off x="502920" y="180000"/>
            <a:ext cx="8229600" cy="420000"/>
          </a:xfrm>
          <a:prstGeom prst="rect">
            <a:avLst/>
          </a:prstGeom>
          <a:noFill/>
          <a:ln/>
        </p:spPr>
        <p:txBody>
          <a:bodyPr wrap="square" rtlCol="0" anchor="ctr"/>
          <a:lstStyle/>
          <a:p>
            <a:pPr marL="0" indent="0">
              <a:buNone/>
            </a:pPr>
            <a:r>
              <a:rPr lang="en-US" sz="2400" b="1" dirty="0">
                <a:solidFill>
                  <a:srgbClr val="111111"/>
                </a:solidFill>
                <a:latin typeface="Georgia" pitchFamily="34" charset="0"/>
              </a:rPr>
              <a:t>Design Diagrams — Shayan Khan</a:t>
            </a:r>
          </a:p>
        </p:txBody>
      </p:sp>
      <p:sp>
        <p:nvSpPr>
          <p:cNvPr id="3" name="Subtitle"/>
          <p:cNvSpPr/>
          <p:nvPr/>
        </p:nvSpPr>
        <p:spPr>
          <a:xfrm>
            <a:off x="502920" y="610000"/>
            <a:ext cx="8229600" cy="220000"/>
          </a:xfrm>
          <a:prstGeom prst="rect">
            <a:avLst/>
          </a:prstGeom>
          <a:noFill/>
          <a:ln/>
        </p:spPr>
        <p:txBody>
          <a:bodyPr wrap="square" rtlCol="0" anchor="ctr"/>
          <a:lstStyle/>
          <a:p>
            <a:pPr marL="0" indent="0">
              <a:buNone/>
            </a:pPr>
            <a:r>
              <a:rPr lang="en-US" sz="1100" i="1" dirty="0">
                <a:solidFill>
                  <a:srgbClr val="6B7280"/>
                </a:solidFill>
              </a:rPr>
              <a:t>Authentication + Dashboard</a:t>
            </a:r>
          </a:p>
        </p:txBody>
      </p:sp>
      <p:pic>
        <p:nvPicPr>
          <p:cNvPr id="10" name="Diagram 10"/>
          <p:cNvPicPr>
            <a:picLocks noChangeAspect="1"/>
          </p:cNvPicPr>
          <p:nvPr/>
        </p:nvPicPr>
        <p:blipFill>
          <a:blip r:embed="rId3"/>
          <a:stretch>
            <a:fillRect/>
          </a:stretch>
        </p:blipFill>
        <p:spPr>
          <a:xfrm>
            <a:off x="180000" y="820000"/>
            <a:ext cx="4390000" cy="1880000"/>
          </a:xfrm>
          <a:prstGeom prst="rect">
            <a:avLst/>
          </a:prstGeom>
          <a:effectLst>
            <a:outerShdw blurRad="76200" dist="25400" dir="5400000" algn="t" rotWithShape="0">
              <a:srgbClr val="000000">
                <a:alpha val="10000"/>
              </a:srgbClr>
            </a:outerShdw>
          </a:effectLst>
        </p:spPr>
      </p:pic>
      <p:sp>
        <p:nvSpPr>
          <p:cNvPr id="20" name="Label 20"/>
          <p:cNvSpPr/>
          <p:nvPr/>
        </p:nvSpPr>
        <p:spPr>
          <a:xfrm>
            <a:off x="180000" y="2720000"/>
            <a:ext cx="4390000" cy="220000"/>
          </a:xfrm>
          <a:prstGeom prst="rect">
            <a:avLst/>
          </a:prstGeom>
          <a:noFill/>
          <a:ln/>
        </p:spPr>
        <p:txBody>
          <a:bodyPr wrap="square" rtlCol="0" anchor="ctr"/>
          <a:lstStyle/>
          <a:p>
            <a:pPr marL="0" indent="0" algn="ctr">
              <a:buNone/>
            </a:pPr>
            <a:r>
              <a:rPr lang="en-US" sz="900" i="1" dirty="0">
                <a:solidFill>
                  <a:srgbClr val="6B7280"/>
                </a:solidFill>
              </a:rPr>
              <a:t>Conceptual Class Diagram</a:t>
            </a:r>
          </a:p>
        </p:txBody>
      </p:sp>
      <p:pic>
        <p:nvPicPr>
          <p:cNvPr id="11" name="Diagram 11"/>
          <p:cNvPicPr>
            <a:picLocks noChangeAspect="1"/>
          </p:cNvPicPr>
          <p:nvPr/>
        </p:nvPicPr>
        <p:blipFill>
          <a:blip r:embed="rId4"/>
          <a:stretch>
            <a:fillRect/>
          </a:stretch>
        </p:blipFill>
        <p:spPr>
          <a:xfrm>
            <a:off x="4574000" y="820000"/>
            <a:ext cx="4390000" cy="1880000"/>
          </a:xfrm>
          <a:prstGeom prst="rect">
            <a:avLst/>
          </a:prstGeom>
          <a:effectLst>
            <a:outerShdw blurRad="76200" dist="25400" dir="5400000" algn="t" rotWithShape="0">
              <a:srgbClr val="000000">
                <a:alpha val="10000"/>
              </a:srgbClr>
            </a:outerShdw>
          </a:effectLst>
        </p:spPr>
      </p:pic>
      <p:sp>
        <p:nvSpPr>
          <p:cNvPr id="21" name="Label 21"/>
          <p:cNvSpPr/>
          <p:nvPr/>
        </p:nvSpPr>
        <p:spPr>
          <a:xfrm>
            <a:off x="4574000" y="2720000"/>
            <a:ext cx="4390000" cy="220000"/>
          </a:xfrm>
          <a:prstGeom prst="rect">
            <a:avLst/>
          </a:prstGeom>
          <a:noFill/>
          <a:ln/>
        </p:spPr>
        <p:txBody>
          <a:bodyPr wrap="square" rtlCol="0" anchor="ctr"/>
          <a:lstStyle/>
          <a:p>
            <a:pPr marL="0" indent="0" algn="ctr">
              <a:buNone/>
            </a:pPr>
            <a:r>
              <a:rPr lang="en-US" sz="900" i="1" dirty="0">
                <a:solidFill>
                  <a:srgbClr val="6B7280"/>
                </a:solidFill>
              </a:rPr>
              <a:t>Detailed Class Diagram</a:t>
            </a:r>
          </a:p>
        </p:txBody>
      </p:sp>
      <p:pic>
        <p:nvPicPr>
          <p:cNvPr id="12" name="Diagram 12"/>
          <p:cNvPicPr>
            <a:picLocks noChangeAspect="1"/>
          </p:cNvPicPr>
          <p:nvPr/>
        </p:nvPicPr>
        <p:blipFill>
          <a:blip r:embed="rId5"/>
          <a:stretch>
            <a:fillRect/>
          </a:stretch>
        </p:blipFill>
        <p:spPr>
          <a:xfrm>
            <a:off x="180000" y="2880000"/>
            <a:ext cx="4390000" cy="1880000"/>
          </a:xfrm>
          <a:prstGeom prst="rect">
            <a:avLst/>
          </a:prstGeom>
          <a:effectLst>
            <a:outerShdw blurRad="76200" dist="25400" dir="5400000" algn="t" rotWithShape="0">
              <a:srgbClr val="000000">
                <a:alpha val="10000"/>
              </a:srgbClr>
            </a:outerShdw>
          </a:effectLst>
        </p:spPr>
      </p:pic>
      <p:sp>
        <p:nvSpPr>
          <p:cNvPr id="22" name="Label 22"/>
          <p:cNvSpPr/>
          <p:nvPr/>
        </p:nvSpPr>
        <p:spPr>
          <a:xfrm>
            <a:off x="180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Sign Up Flow</a:t>
            </a:r>
          </a:p>
        </p:txBody>
      </p:sp>
      <p:pic>
        <p:nvPicPr>
          <p:cNvPr id="13" name="Diagram 13"/>
          <p:cNvPicPr>
            <a:picLocks noChangeAspect="1"/>
          </p:cNvPicPr>
          <p:nvPr/>
        </p:nvPicPr>
        <p:blipFill>
          <a:blip r:embed="rId6"/>
          <a:stretch>
            <a:fillRect/>
          </a:stretch>
        </p:blipFill>
        <p:spPr>
          <a:xfrm>
            <a:off x="4574000" y="2880000"/>
            <a:ext cx="4390000" cy="1880000"/>
          </a:xfrm>
          <a:prstGeom prst="rect">
            <a:avLst/>
          </a:prstGeom>
          <a:effectLst>
            <a:outerShdw blurRad="76200" dist="25400" dir="5400000" algn="t" rotWithShape="0">
              <a:srgbClr val="000000">
                <a:alpha val="10000"/>
              </a:srgbClr>
            </a:outerShdw>
          </a:effectLst>
        </p:spPr>
      </p:pic>
      <p:sp>
        <p:nvSpPr>
          <p:cNvPr id="23" name="Label 23"/>
          <p:cNvSpPr/>
          <p:nvPr/>
        </p:nvSpPr>
        <p:spPr>
          <a:xfrm>
            <a:off x="4574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Login &amp; Dashboard Load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0"/>
        </a:solidFill>
        <a:effectLst/>
      </p:bgPr>
    </p:bg>
    <p:spTree>
      <p:nvGrpSpPr>
        <p:cNvPr id="1" name=""/>
        <p:cNvGrpSpPr/>
        <p:nvPr/>
      </p:nvGrpSpPr>
      <p:grpSpPr>
        <a:xfrm>
          <a:off x="0" y="0"/>
          <a:ext cx="0" cy="0"/>
          <a:chOff x="0" y="0"/>
          <a:chExt cx="0" cy="0"/>
        </a:xfrm>
      </p:grpSpPr>
      <p:sp>
        <p:nvSpPr>
          <p:cNvPr id="2" name="Title"/>
          <p:cNvSpPr/>
          <p:nvPr/>
        </p:nvSpPr>
        <p:spPr>
          <a:xfrm>
            <a:off x="502920" y="180000"/>
            <a:ext cx="8229600" cy="420000"/>
          </a:xfrm>
          <a:prstGeom prst="rect">
            <a:avLst/>
          </a:prstGeom>
          <a:noFill/>
          <a:ln/>
        </p:spPr>
        <p:txBody>
          <a:bodyPr wrap="square" rtlCol="0" anchor="ctr"/>
          <a:lstStyle/>
          <a:p>
            <a:pPr marL="0" indent="0">
              <a:buNone/>
            </a:pPr>
            <a:r>
              <a:rPr lang="en-US" sz="2400" b="1" dirty="0">
                <a:solidFill>
                  <a:srgbClr val="111111"/>
                </a:solidFill>
                <a:latin typeface="Georgia" pitchFamily="34" charset="0"/>
              </a:rPr>
              <a:t>Design Diagrams — Kayla Suttihprapa</a:t>
            </a:r>
          </a:p>
        </p:txBody>
      </p:sp>
      <p:sp>
        <p:nvSpPr>
          <p:cNvPr id="3" name="Subtitle"/>
          <p:cNvSpPr/>
          <p:nvPr/>
        </p:nvSpPr>
        <p:spPr>
          <a:xfrm>
            <a:off x="502920" y="610000"/>
            <a:ext cx="8229600" cy="220000"/>
          </a:xfrm>
          <a:prstGeom prst="rect">
            <a:avLst/>
          </a:prstGeom>
          <a:noFill/>
          <a:ln/>
        </p:spPr>
        <p:txBody>
          <a:bodyPr wrap="square" rtlCol="0" anchor="ctr"/>
          <a:lstStyle/>
          <a:p>
            <a:pPr marL="0" indent="0">
              <a:buNone/>
            </a:pPr>
            <a:r>
              <a:rPr lang="en-US" sz="1100" i="1" dirty="0">
                <a:solidFill>
                  <a:srgbClr val="6B7280"/>
                </a:solidFill>
              </a:rPr>
              <a:t>Profile Setup + Edit</a:t>
            </a:r>
          </a:p>
        </p:txBody>
      </p:sp>
      <p:pic>
        <p:nvPicPr>
          <p:cNvPr id="10" name="Diagram 10"/>
          <p:cNvPicPr>
            <a:picLocks noChangeAspect="1"/>
          </p:cNvPicPr>
          <p:nvPr/>
        </p:nvPicPr>
        <p:blipFill>
          <a:blip r:embed="rId3"/>
          <a:stretch>
            <a:fillRect/>
          </a:stretch>
        </p:blipFill>
        <p:spPr>
          <a:xfrm>
            <a:off x="180000" y="820000"/>
            <a:ext cx="4390000" cy="1880000"/>
          </a:xfrm>
          <a:prstGeom prst="rect">
            <a:avLst/>
          </a:prstGeom>
          <a:effectLst>
            <a:outerShdw blurRad="76200" dist="25400" dir="5400000" algn="t" rotWithShape="0">
              <a:srgbClr val="000000">
                <a:alpha val="10000"/>
              </a:srgbClr>
            </a:outerShdw>
          </a:effectLst>
        </p:spPr>
      </p:pic>
      <p:sp>
        <p:nvSpPr>
          <p:cNvPr id="20" name="Label 20"/>
          <p:cNvSpPr/>
          <p:nvPr/>
        </p:nvSpPr>
        <p:spPr>
          <a:xfrm>
            <a:off x="180000" y="2720000"/>
            <a:ext cx="4390000" cy="220000"/>
          </a:xfrm>
          <a:prstGeom prst="rect">
            <a:avLst/>
          </a:prstGeom>
          <a:noFill/>
          <a:ln/>
        </p:spPr>
        <p:txBody>
          <a:bodyPr wrap="square" rtlCol="0" anchor="ctr"/>
          <a:lstStyle/>
          <a:p>
            <a:pPr marL="0" indent="0" algn="ctr">
              <a:buNone/>
            </a:pPr>
            <a:r>
              <a:rPr lang="en-US" sz="900" i="1" dirty="0">
                <a:solidFill>
                  <a:srgbClr val="6B7280"/>
                </a:solidFill>
              </a:rPr>
              <a:t>Conceptual Class Diagram</a:t>
            </a:r>
          </a:p>
        </p:txBody>
      </p:sp>
      <p:pic>
        <p:nvPicPr>
          <p:cNvPr id="11" name="Diagram 11"/>
          <p:cNvPicPr>
            <a:picLocks noChangeAspect="1"/>
          </p:cNvPicPr>
          <p:nvPr/>
        </p:nvPicPr>
        <p:blipFill>
          <a:blip r:embed="rId4"/>
          <a:stretch>
            <a:fillRect/>
          </a:stretch>
        </p:blipFill>
        <p:spPr>
          <a:xfrm>
            <a:off x="4574000" y="820000"/>
            <a:ext cx="4390000" cy="1880000"/>
          </a:xfrm>
          <a:prstGeom prst="rect">
            <a:avLst/>
          </a:prstGeom>
          <a:effectLst>
            <a:outerShdw blurRad="76200" dist="25400" dir="5400000" algn="t" rotWithShape="0">
              <a:srgbClr val="000000">
                <a:alpha val="10000"/>
              </a:srgbClr>
            </a:outerShdw>
          </a:effectLst>
        </p:spPr>
      </p:pic>
      <p:sp>
        <p:nvSpPr>
          <p:cNvPr id="21" name="Label 21"/>
          <p:cNvSpPr/>
          <p:nvPr/>
        </p:nvSpPr>
        <p:spPr>
          <a:xfrm>
            <a:off x="4574000" y="2720000"/>
            <a:ext cx="4390000" cy="220000"/>
          </a:xfrm>
          <a:prstGeom prst="rect">
            <a:avLst/>
          </a:prstGeom>
          <a:noFill/>
          <a:ln/>
        </p:spPr>
        <p:txBody>
          <a:bodyPr wrap="square" rtlCol="0" anchor="ctr"/>
          <a:lstStyle/>
          <a:p>
            <a:pPr marL="0" indent="0" algn="ctr">
              <a:buNone/>
            </a:pPr>
            <a:r>
              <a:rPr lang="en-US" sz="900" i="1" dirty="0">
                <a:solidFill>
                  <a:srgbClr val="6B7280"/>
                </a:solidFill>
              </a:rPr>
              <a:t>Detailed Class Diagram</a:t>
            </a:r>
          </a:p>
        </p:txBody>
      </p:sp>
      <p:pic>
        <p:nvPicPr>
          <p:cNvPr id="12" name="Diagram 12"/>
          <p:cNvPicPr>
            <a:picLocks noChangeAspect="1"/>
          </p:cNvPicPr>
          <p:nvPr/>
        </p:nvPicPr>
        <p:blipFill>
          <a:blip r:embed="rId5"/>
          <a:stretch>
            <a:fillRect/>
          </a:stretch>
        </p:blipFill>
        <p:spPr>
          <a:xfrm>
            <a:off x="180000" y="2880000"/>
            <a:ext cx="4390000" cy="1880000"/>
          </a:xfrm>
          <a:prstGeom prst="rect">
            <a:avLst/>
          </a:prstGeom>
          <a:effectLst>
            <a:outerShdw blurRad="76200" dist="25400" dir="5400000" algn="t" rotWithShape="0">
              <a:srgbClr val="000000">
                <a:alpha val="10000"/>
              </a:srgbClr>
            </a:outerShdw>
          </a:effectLst>
        </p:spPr>
      </p:pic>
      <p:sp>
        <p:nvSpPr>
          <p:cNvPr id="22" name="Label 22"/>
          <p:cNvSpPr/>
          <p:nvPr/>
        </p:nvSpPr>
        <p:spPr>
          <a:xfrm>
            <a:off x="180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Profile Setup</a:t>
            </a:r>
          </a:p>
        </p:txBody>
      </p:sp>
      <p:pic>
        <p:nvPicPr>
          <p:cNvPr id="13" name="Diagram 13"/>
          <p:cNvPicPr>
            <a:picLocks noChangeAspect="1"/>
          </p:cNvPicPr>
          <p:nvPr/>
        </p:nvPicPr>
        <p:blipFill>
          <a:blip r:embed="rId6"/>
          <a:stretch>
            <a:fillRect/>
          </a:stretch>
        </p:blipFill>
        <p:spPr>
          <a:xfrm>
            <a:off x="4574000" y="2880000"/>
            <a:ext cx="4390000" cy="1880000"/>
          </a:xfrm>
          <a:prstGeom prst="rect">
            <a:avLst/>
          </a:prstGeom>
          <a:effectLst>
            <a:outerShdw blurRad="76200" dist="25400" dir="5400000" algn="t" rotWithShape="0">
              <a:srgbClr val="000000">
                <a:alpha val="10000"/>
              </a:srgbClr>
            </a:outerShdw>
          </a:effectLst>
        </p:spPr>
      </p:pic>
      <p:sp>
        <p:nvSpPr>
          <p:cNvPr id="23" name="Label 23"/>
          <p:cNvSpPr/>
          <p:nvPr/>
        </p:nvSpPr>
        <p:spPr>
          <a:xfrm>
            <a:off x="4574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Profile Edit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0"/>
        </a:solidFill>
        <a:effectLst/>
      </p:bgPr>
    </p:bg>
    <p:spTree>
      <p:nvGrpSpPr>
        <p:cNvPr id="1" name=""/>
        <p:cNvGrpSpPr/>
        <p:nvPr/>
      </p:nvGrpSpPr>
      <p:grpSpPr>
        <a:xfrm>
          <a:off x="0" y="0"/>
          <a:ext cx="0" cy="0"/>
          <a:chOff x="0" y="0"/>
          <a:chExt cx="0" cy="0"/>
        </a:xfrm>
      </p:grpSpPr>
      <p:sp>
        <p:nvSpPr>
          <p:cNvPr id="2" name="Title"/>
          <p:cNvSpPr/>
          <p:nvPr/>
        </p:nvSpPr>
        <p:spPr>
          <a:xfrm>
            <a:off x="502920" y="180000"/>
            <a:ext cx="8229600" cy="420000"/>
          </a:xfrm>
          <a:prstGeom prst="rect">
            <a:avLst/>
          </a:prstGeom>
          <a:noFill/>
          <a:ln/>
        </p:spPr>
        <p:txBody>
          <a:bodyPr wrap="square" rtlCol="0" anchor="ctr"/>
          <a:lstStyle/>
          <a:p>
            <a:pPr marL="0" indent="0">
              <a:buNone/>
            </a:pPr>
            <a:r>
              <a:rPr lang="en-US" sz="2400" b="1" dirty="0">
                <a:solidFill>
                  <a:srgbClr val="111111"/>
                </a:solidFill>
                <a:latin typeface="Georgia" pitchFamily="34" charset="0"/>
              </a:rPr>
              <a:t>Design Diagrams — Enoch Ogunfiditimi</a:t>
            </a:r>
          </a:p>
        </p:txBody>
      </p:sp>
      <p:sp>
        <p:nvSpPr>
          <p:cNvPr id="3" name="Subtitle"/>
          <p:cNvSpPr/>
          <p:nvPr/>
        </p:nvSpPr>
        <p:spPr>
          <a:xfrm>
            <a:off x="502920" y="610000"/>
            <a:ext cx="8229600" cy="220000"/>
          </a:xfrm>
          <a:prstGeom prst="rect">
            <a:avLst/>
          </a:prstGeom>
          <a:noFill/>
          <a:ln/>
        </p:spPr>
        <p:txBody>
          <a:bodyPr wrap="square" rtlCol="0" anchor="ctr"/>
          <a:lstStyle/>
          <a:p>
            <a:pPr marL="0" indent="0">
              <a:buNone/>
            </a:pPr>
            <a:r>
              <a:rPr lang="en-US" sz="1100" i="1" dirty="0">
                <a:solidFill>
                  <a:srgbClr val="6B7280"/>
                </a:solidFill>
              </a:rPr>
              <a:t>Study Groups</a:t>
            </a:r>
          </a:p>
        </p:txBody>
      </p:sp>
      <p:pic>
        <p:nvPicPr>
          <p:cNvPr id="10" name="Diagram 10"/>
          <p:cNvPicPr>
            <a:picLocks noChangeAspect="1"/>
          </p:cNvPicPr>
          <p:nvPr/>
        </p:nvPicPr>
        <p:blipFill>
          <a:blip r:embed="rId3"/>
          <a:stretch>
            <a:fillRect/>
          </a:stretch>
        </p:blipFill>
        <p:spPr>
          <a:xfrm>
            <a:off x="180000" y="820000"/>
            <a:ext cx="4390000" cy="1880000"/>
          </a:xfrm>
          <a:prstGeom prst="rect">
            <a:avLst/>
          </a:prstGeom>
          <a:effectLst>
            <a:outerShdw blurRad="76200" dist="25400" dir="5400000" algn="t" rotWithShape="0">
              <a:srgbClr val="000000">
                <a:alpha val="10000"/>
              </a:srgbClr>
            </a:outerShdw>
          </a:effectLst>
        </p:spPr>
      </p:pic>
      <p:sp>
        <p:nvSpPr>
          <p:cNvPr id="20" name="Label 20"/>
          <p:cNvSpPr/>
          <p:nvPr/>
        </p:nvSpPr>
        <p:spPr>
          <a:xfrm>
            <a:off x="180000" y="2720000"/>
            <a:ext cx="4390000" cy="220000"/>
          </a:xfrm>
          <a:prstGeom prst="rect">
            <a:avLst/>
          </a:prstGeom>
          <a:noFill/>
          <a:ln/>
        </p:spPr>
        <p:txBody>
          <a:bodyPr wrap="square" rtlCol="0" anchor="ctr"/>
          <a:lstStyle/>
          <a:p>
            <a:pPr marL="0" indent="0" algn="ctr">
              <a:buNone/>
            </a:pPr>
            <a:r>
              <a:rPr lang="en-US" sz="900" i="1" dirty="0">
                <a:solidFill>
                  <a:srgbClr val="6B7280"/>
                </a:solidFill>
              </a:rPr>
              <a:t>Conceptual Class Diagram</a:t>
            </a:r>
          </a:p>
        </p:txBody>
      </p:sp>
      <p:pic>
        <p:nvPicPr>
          <p:cNvPr id="11" name="Diagram 11"/>
          <p:cNvPicPr>
            <a:picLocks noChangeAspect="1"/>
          </p:cNvPicPr>
          <p:nvPr/>
        </p:nvPicPr>
        <p:blipFill>
          <a:blip r:embed="rId4"/>
          <a:stretch>
            <a:fillRect/>
          </a:stretch>
        </p:blipFill>
        <p:spPr>
          <a:xfrm>
            <a:off x="4574000" y="820000"/>
            <a:ext cx="4390000" cy="1880000"/>
          </a:xfrm>
          <a:prstGeom prst="rect">
            <a:avLst/>
          </a:prstGeom>
          <a:effectLst>
            <a:outerShdw blurRad="76200" dist="25400" dir="5400000" algn="t" rotWithShape="0">
              <a:srgbClr val="000000">
                <a:alpha val="10000"/>
              </a:srgbClr>
            </a:outerShdw>
          </a:effectLst>
        </p:spPr>
      </p:pic>
      <p:sp>
        <p:nvSpPr>
          <p:cNvPr id="21" name="Label 21"/>
          <p:cNvSpPr/>
          <p:nvPr/>
        </p:nvSpPr>
        <p:spPr>
          <a:xfrm>
            <a:off x="4574000" y="2720000"/>
            <a:ext cx="4390000" cy="220000"/>
          </a:xfrm>
          <a:prstGeom prst="rect">
            <a:avLst/>
          </a:prstGeom>
          <a:noFill/>
          <a:ln/>
        </p:spPr>
        <p:txBody>
          <a:bodyPr wrap="square" rtlCol="0" anchor="ctr"/>
          <a:lstStyle/>
          <a:p>
            <a:pPr marL="0" indent="0" algn="ctr">
              <a:buNone/>
            </a:pPr>
            <a:r>
              <a:rPr lang="en-US" sz="900" i="1" dirty="0">
                <a:solidFill>
                  <a:srgbClr val="6B7280"/>
                </a:solidFill>
              </a:rPr>
              <a:t>Detailed Class Diagram</a:t>
            </a:r>
          </a:p>
        </p:txBody>
      </p:sp>
      <p:pic>
        <p:nvPicPr>
          <p:cNvPr id="12" name="Diagram 12"/>
          <p:cNvPicPr>
            <a:picLocks noChangeAspect="1"/>
          </p:cNvPicPr>
          <p:nvPr/>
        </p:nvPicPr>
        <p:blipFill>
          <a:blip r:embed="rId5"/>
          <a:stretch>
            <a:fillRect/>
          </a:stretch>
        </p:blipFill>
        <p:spPr>
          <a:xfrm>
            <a:off x="180000" y="2880000"/>
            <a:ext cx="4390000" cy="1880000"/>
          </a:xfrm>
          <a:prstGeom prst="rect">
            <a:avLst/>
          </a:prstGeom>
          <a:effectLst>
            <a:outerShdw blurRad="76200" dist="25400" dir="5400000" algn="t" rotWithShape="0">
              <a:srgbClr val="000000">
                <a:alpha val="10000"/>
              </a:srgbClr>
            </a:outerShdw>
          </a:effectLst>
        </p:spPr>
      </p:pic>
      <p:sp>
        <p:nvSpPr>
          <p:cNvPr id="22" name="Label 22"/>
          <p:cNvSpPr/>
          <p:nvPr/>
        </p:nvSpPr>
        <p:spPr>
          <a:xfrm>
            <a:off x="180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Create Study Group</a:t>
            </a:r>
          </a:p>
        </p:txBody>
      </p:sp>
      <p:pic>
        <p:nvPicPr>
          <p:cNvPr id="13" name="Diagram 13"/>
          <p:cNvPicPr>
            <a:picLocks noChangeAspect="1"/>
          </p:cNvPicPr>
          <p:nvPr/>
        </p:nvPicPr>
        <p:blipFill>
          <a:blip r:embed="rId6"/>
          <a:stretch>
            <a:fillRect/>
          </a:stretch>
        </p:blipFill>
        <p:spPr>
          <a:xfrm>
            <a:off x="4574000" y="2880000"/>
            <a:ext cx="4390000" cy="1880000"/>
          </a:xfrm>
          <a:prstGeom prst="rect">
            <a:avLst/>
          </a:prstGeom>
          <a:effectLst>
            <a:outerShdw blurRad="76200" dist="25400" dir="5400000" algn="t" rotWithShape="0">
              <a:srgbClr val="000000">
                <a:alpha val="10000"/>
              </a:srgbClr>
            </a:outerShdw>
          </a:effectLst>
        </p:spPr>
      </p:pic>
      <p:sp>
        <p:nvSpPr>
          <p:cNvPr id="23" name="Label 23"/>
          <p:cNvSpPr/>
          <p:nvPr/>
        </p:nvSpPr>
        <p:spPr>
          <a:xfrm>
            <a:off x="4574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Join / Leave Group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0"/>
        </a:solidFill>
        <a:effectLst/>
      </p:bgPr>
    </p:bg>
    <p:spTree>
      <p:nvGrpSpPr>
        <p:cNvPr id="1" name=""/>
        <p:cNvGrpSpPr/>
        <p:nvPr/>
      </p:nvGrpSpPr>
      <p:grpSpPr>
        <a:xfrm>
          <a:off x="0" y="0"/>
          <a:ext cx="0" cy="0"/>
          <a:chOff x="0" y="0"/>
          <a:chExt cx="0" cy="0"/>
        </a:xfrm>
      </p:grpSpPr>
      <p:sp>
        <p:nvSpPr>
          <p:cNvPr id="2" name="Title"/>
          <p:cNvSpPr/>
          <p:nvPr/>
        </p:nvSpPr>
        <p:spPr>
          <a:xfrm>
            <a:off x="502920" y="180000"/>
            <a:ext cx="8229600" cy="420000"/>
          </a:xfrm>
          <a:prstGeom prst="rect">
            <a:avLst/>
          </a:prstGeom>
          <a:noFill/>
          <a:ln/>
        </p:spPr>
        <p:txBody>
          <a:bodyPr wrap="square" rtlCol="0" anchor="ctr"/>
          <a:lstStyle/>
          <a:p>
            <a:pPr marL="0" indent="0">
              <a:buNone/>
            </a:pPr>
            <a:r>
              <a:rPr lang="en-US" sz="2400" b="1" dirty="0">
                <a:solidFill>
                  <a:srgbClr val="111111"/>
                </a:solidFill>
                <a:latin typeface="Georgia" pitchFamily="34" charset="0"/>
              </a:rPr>
              <a:t>Design Diagrams — Aser Eshetu</a:t>
            </a:r>
          </a:p>
        </p:txBody>
      </p:sp>
      <p:sp>
        <p:nvSpPr>
          <p:cNvPr id="3" name="Subtitle"/>
          <p:cNvSpPr/>
          <p:nvPr/>
        </p:nvSpPr>
        <p:spPr>
          <a:xfrm>
            <a:off x="502920" y="610000"/>
            <a:ext cx="8229600" cy="220000"/>
          </a:xfrm>
          <a:prstGeom prst="rect">
            <a:avLst/>
          </a:prstGeom>
          <a:noFill/>
          <a:ln/>
        </p:spPr>
        <p:txBody>
          <a:bodyPr wrap="square" rtlCol="0" anchor="ctr"/>
          <a:lstStyle/>
          <a:p>
            <a:pPr marL="0" indent="0">
              <a:buNone/>
            </a:pPr>
            <a:r>
              <a:rPr lang="en-US" sz="1100" i="1" dirty="0">
                <a:solidFill>
                  <a:srgbClr val="6B7280"/>
                </a:solidFill>
              </a:rPr>
              <a:t>Campus Events</a:t>
            </a:r>
          </a:p>
        </p:txBody>
      </p:sp>
      <p:pic>
        <p:nvPicPr>
          <p:cNvPr id="10" name="Diagram 10"/>
          <p:cNvPicPr>
            <a:picLocks noChangeAspect="1"/>
          </p:cNvPicPr>
          <p:nvPr/>
        </p:nvPicPr>
        <p:blipFill>
          <a:blip r:embed="rId3"/>
          <a:stretch>
            <a:fillRect/>
          </a:stretch>
        </p:blipFill>
        <p:spPr>
          <a:xfrm>
            <a:off x="180000" y="820000"/>
            <a:ext cx="4390000" cy="1880000"/>
          </a:xfrm>
          <a:prstGeom prst="rect">
            <a:avLst/>
          </a:prstGeom>
          <a:effectLst>
            <a:outerShdw blurRad="76200" dist="25400" dir="5400000" algn="t" rotWithShape="0">
              <a:srgbClr val="000000">
                <a:alpha val="10000"/>
              </a:srgbClr>
            </a:outerShdw>
          </a:effectLst>
        </p:spPr>
      </p:pic>
      <p:sp>
        <p:nvSpPr>
          <p:cNvPr id="20" name="Label 20"/>
          <p:cNvSpPr/>
          <p:nvPr/>
        </p:nvSpPr>
        <p:spPr>
          <a:xfrm>
            <a:off x="180000" y="2720000"/>
            <a:ext cx="4390000" cy="220000"/>
          </a:xfrm>
          <a:prstGeom prst="rect">
            <a:avLst/>
          </a:prstGeom>
          <a:noFill/>
          <a:ln/>
        </p:spPr>
        <p:txBody>
          <a:bodyPr wrap="square" rtlCol="0" anchor="ctr"/>
          <a:lstStyle/>
          <a:p>
            <a:pPr marL="0" indent="0" algn="ctr">
              <a:buNone/>
            </a:pPr>
            <a:r>
              <a:rPr lang="en-US" sz="900" i="1" dirty="0">
                <a:solidFill>
                  <a:srgbClr val="6B7280"/>
                </a:solidFill>
              </a:rPr>
              <a:t>Conceptual Class Diagram</a:t>
            </a:r>
          </a:p>
        </p:txBody>
      </p:sp>
      <p:pic>
        <p:nvPicPr>
          <p:cNvPr id="11" name="Diagram 11"/>
          <p:cNvPicPr>
            <a:picLocks noChangeAspect="1"/>
          </p:cNvPicPr>
          <p:nvPr/>
        </p:nvPicPr>
        <p:blipFill>
          <a:blip r:embed="rId4"/>
          <a:stretch>
            <a:fillRect/>
          </a:stretch>
        </p:blipFill>
        <p:spPr>
          <a:xfrm>
            <a:off x="4574000" y="820000"/>
            <a:ext cx="4390000" cy="1880000"/>
          </a:xfrm>
          <a:prstGeom prst="rect">
            <a:avLst/>
          </a:prstGeom>
          <a:effectLst>
            <a:outerShdw blurRad="76200" dist="25400" dir="5400000" algn="t" rotWithShape="0">
              <a:srgbClr val="000000">
                <a:alpha val="10000"/>
              </a:srgbClr>
            </a:outerShdw>
          </a:effectLst>
        </p:spPr>
      </p:pic>
      <p:sp>
        <p:nvSpPr>
          <p:cNvPr id="21" name="Label 21"/>
          <p:cNvSpPr/>
          <p:nvPr/>
        </p:nvSpPr>
        <p:spPr>
          <a:xfrm>
            <a:off x="4574000" y="2720000"/>
            <a:ext cx="4390000" cy="220000"/>
          </a:xfrm>
          <a:prstGeom prst="rect">
            <a:avLst/>
          </a:prstGeom>
          <a:noFill/>
          <a:ln/>
        </p:spPr>
        <p:txBody>
          <a:bodyPr wrap="square" rtlCol="0" anchor="ctr"/>
          <a:lstStyle/>
          <a:p>
            <a:pPr marL="0" indent="0" algn="ctr">
              <a:buNone/>
            </a:pPr>
            <a:r>
              <a:rPr lang="en-US" sz="900" i="1" dirty="0">
                <a:solidFill>
                  <a:srgbClr val="6B7280"/>
                </a:solidFill>
              </a:rPr>
              <a:t>Detailed Class Diagram</a:t>
            </a:r>
          </a:p>
        </p:txBody>
      </p:sp>
      <p:pic>
        <p:nvPicPr>
          <p:cNvPr id="12" name="Diagram 12"/>
          <p:cNvPicPr>
            <a:picLocks noChangeAspect="1"/>
          </p:cNvPicPr>
          <p:nvPr/>
        </p:nvPicPr>
        <p:blipFill>
          <a:blip r:embed="rId5"/>
          <a:stretch>
            <a:fillRect/>
          </a:stretch>
        </p:blipFill>
        <p:spPr>
          <a:xfrm>
            <a:off x="180000" y="2880000"/>
            <a:ext cx="4390000" cy="1880000"/>
          </a:xfrm>
          <a:prstGeom prst="rect">
            <a:avLst/>
          </a:prstGeom>
          <a:effectLst>
            <a:outerShdw blurRad="76200" dist="25400" dir="5400000" algn="t" rotWithShape="0">
              <a:srgbClr val="000000">
                <a:alpha val="10000"/>
              </a:srgbClr>
            </a:outerShdw>
          </a:effectLst>
        </p:spPr>
      </p:pic>
      <p:sp>
        <p:nvSpPr>
          <p:cNvPr id="22" name="Label 22"/>
          <p:cNvSpPr/>
          <p:nvPr/>
        </p:nvSpPr>
        <p:spPr>
          <a:xfrm>
            <a:off x="180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Post Event</a:t>
            </a:r>
          </a:p>
        </p:txBody>
      </p:sp>
      <p:pic>
        <p:nvPicPr>
          <p:cNvPr id="13" name="Diagram 13"/>
          <p:cNvPicPr>
            <a:picLocks noChangeAspect="1"/>
          </p:cNvPicPr>
          <p:nvPr/>
        </p:nvPicPr>
        <p:blipFill>
          <a:blip r:embed="rId6"/>
          <a:stretch>
            <a:fillRect/>
          </a:stretch>
        </p:blipFill>
        <p:spPr>
          <a:xfrm>
            <a:off x="4574000" y="2880000"/>
            <a:ext cx="4390000" cy="1880000"/>
          </a:xfrm>
          <a:prstGeom prst="rect">
            <a:avLst/>
          </a:prstGeom>
          <a:effectLst>
            <a:outerShdw blurRad="76200" dist="25400" dir="5400000" algn="t" rotWithShape="0">
              <a:srgbClr val="000000">
                <a:alpha val="10000"/>
              </a:srgbClr>
            </a:outerShdw>
          </a:effectLst>
        </p:spPr>
      </p:pic>
      <p:sp>
        <p:nvSpPr>
          <p:cNvPr id="23" name="Label 23"/>
          <p:cNvSpPr/>
          <p:nvPr/>
        </p:nvSpPr>
        <p:spPr>
          <a:xfrm>
            <a:off x="4574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RSVP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0"/>
        </a:solidFill>
        <a:effectLst/>
      </p:bgPr>
    </p:bg>
    <p:spTree>
      <p:nvGrpSpPr>
        <p:cNvPr id="1" name=""/>
        <p:cNvGrpSpPr/>
        <p:nvPr/>
      </p:nvGrpSpPr>
      <p:grpSpPr>
        <a:xfrm>
          <a:off x="0" y="0"/>
          <a:ext cx="0" cy="0"/>
          <a:chOff x="0" y="0"/>
          <a:chExt cx="0" cy="0"/>
        </a:xfrm>
      </p:grpSpPr>
      <p:sp>
        <p:nvSpPr>
          <p:cNvPr id="2" name="Title"/>
          <p:cNvSpPr/>
          <p:nvPr/>
        </p:nvSpPr>
        <p:spPr>
          <a:xfrm>
            <a:off x="502920" y="180000"/>
            <a:ext cx="8229600" cy="420000"/>
          </a:xfrm>
          <a:prstGeom prst="rect">
            <a:avLst/>
          </a:prstGeom>
          <a:noFill/>
          <a:ln/>
        </p:spPr>
        <p:txBody>
          <a:bodyPr wrap="square" rtlCol="0" anchor="ctr"/>
          <a:lstStyle/>
          <a:p>
            <a:pPr marL="0" indent="0">
              <a:buNone/>
            </a:pPr>
            <a:r>
              <a:rPr lang="en-US" sz="2400" b="1" dirty="0">
                <a:solidFill>
                  <a:srgbClr val="111111"/>
                </a:solidFill>
                <a:latin typeface="Georgia" pitchFamily="34" charset="0"/>
              </a:rPr>
              <a:t>Design Diagrams — Noe Flores</a:t>
            </a:r>
          </a:p>
        </p:txBody>
      </p:sp>
      <p:sp>
        <p:nvSpPr>
          <p:cNvPr id="3" name="Subtitle"/>
          <p:cNvSpPr/>
          <p:nvPr/>
        </p:nvSpPr>
        <p:spPr>
          <a:xfrm>
            <a:off x="502920" y="610000"/>
            <a:ext cx="8229600" cy="220000"/>
          </a:xfrm>
          <a:prstGeom prst="rect">
            <a:avLst/>
          </a:prstGeom>
          <a:noFill/>
          <a:ln/>
        </p:spPr>
        <p:txBody>
          <a:bodyPr wrap="square" rtlCol="0" anchor="ctr"/>
          <a:lstStyle/>
          <a:p>
            <a:pPr marL="0" indent="0">
              <a:buNone/>
            </a:pPr>
            <a:r>
              <a:rPr lang="en-US" sz="1100" i="1" dirty="0">
                <a:solidFill>
                  <a:srgbClr val="6B7280"/>
                </a:solidFill>
              </a:rPr>
              <a:t>Textbook Marketplace</a:t>
            </a:r>
          </a:p>
        </p:txBody>
      </p:sp>
      <p:pic>
        <p:nvPicPr>
          <p:cNvPr id="10" name="Diagram 10"/>
          <p:cNvPicPr>
            <a:picLocks noChangeAspect="1"/>
          </p:cNvPicPr>
          <p:nvPr/>
        </p:nvPicPr>
        <p:blipFill>
          <a:blip r:embed="rId3"/>
          <a:stretch>
            <a:fillRect/>
          </a:stretch>
        </p:blipFill>
        <p:spPr>
          <a:xfrm>
            <a:off x="180000" y="820000"/>
            <a:ext cx="4390000" cy="1880000"/>
          </a:xfrm>
          <a:prstGeom prst="rect">
            <a:avLst/>
          </a:prstGeom>
          <a:effectLst>
            <a:outerShdw blurRad="76200" dist="25400" dir="5400000" algn="t" rotWithShape="0">
              <a:srgbClr val="000000">
                <a:alpha val="10000"/>
              </a:srgbClr>
            </a:outerShdw>
          </a:effectLst>
        </p:spPr>
      </p:pic>
      <p:sp>
        <p:nvSpPr>
          <p:cNvPr id="20" name="Label 20"/>
          <p:cNvSpPr/>
          <p:nvPr/>
        </p:nvSpPr>
        <p:spPr>
          <a:xfrm>
            <a:off x="180000" y="2720000"/>
            <a:ext cx="4390000" cy="220000"/>
          </a:xfrm>
          <a:prstGeom prst="rect">
            <a:avLst/>
          </a:prstGeom>
          <a:noFill/>
          <a:ln/>
        </p:spPr>
        <p:txBody>
          <a:bodyPr wrap="square" rtlCol="0" anchor="ctr"/>
          <a:lstStyle/>
          <a:p>
            <a:pPr marL="0" indent="0" algn="ctr">
              <a:buNone/>
            </a:pPr>
            <a:r>
              <a:rPr lang="en-US" sz="900" i="1" dirty="0">
                <a:solidFill>
                  <a:srgbClr val="6B7280"/>
                </a:solidFill>
              </a:rPr>
              <a:t>Conceptual Class Diagram</a:t>
            </a:r>
          </a:p>
        </p:txBody>
      </p:sp>
      <p:pic>
        <p:nvPicPr>
          <p:cNvPr id="11" name="Diagram 11"/>
          <p:cNvPicPr>
            <a:picLocks noChangeAspect="1"/>
          </p:cNvPicPr>
          <p:nvPr/>
        </p:nvPicPr>
        <p:blipFill>
          <a:blip r:embed="rId4"/>
          <a:stretch>
            <a:fillRect/>
          </a:stretch>
        </p:blipFill>
        <p:spPr>
          <a:xfrm>
            <a:off x="4574000" y="820000"/>
            <a:ext cx="4390000" cy="1880000"/>
          </a:xfrm>
          <a:prstGeom prst="rect">
            <a:avLst/>
          </a:prstGeom>
          <a:effectLst>
            <a:outerShdw blurRad="76200" dist="25400" dir="5400000" algn="t" rotWithShape="0">
              <a:srgbClr val="000000">
                <a:alpha val="10000"/>
              </a:srgbClr>
            </a:outerShdw>
          </a:effectLst>
        </p:spPr>
      </p:pic>
      <p:sp>
        <p:nvSpPr>
          <p:cNvPr id="21" name="Label 21"/>
          <p:cNvSpPr/>
          <p:nvPr/>
        </p:nvSpPr>
        <p:spPr>
          <a:xfrm>
            <a:off x="4574000" y="2720000"/>
            <a:ext cx="4390000" cy="220000"/>
          </a:xfrm>
          <a:prstGeom prst="rect">
            <a:avLst/>
          </a:prstGeom>
          <a:noFill/>
          <a:ln/>
        </p:spPr>
        <p:txBody>
          <a:bodyPr wrap="square" rtlCol="0" anchor="ctr"/>
          <a:lstStyle/>
          <a:p>
            <a:pPr marL="0" indent="0" algn="ctr">
              <a:buNone/>
            </a:pPr>
            <a:r>
              <a:rPr lang="en-US" sz="900" i="1" dirty="0">
                <a:solidFill>
                  <a:srgbClr val="6B7280"/>
                </a:solidFill>
              </a:rPr>
              <a:t>Detailed Class Diagram</a:t>
            </a:r>
          </a:p>
        </p:txBody>
      </p:sp>
      <p:pic>
        <p:nvPicPr>
          <p:cNvPr id="12" name="Diagram 12"/>
          <p:cNvPicPr>
            <a:picLocks noChangeAspect="1"/>
          </p:cNvPicPr>
          <p:nvPr/>
        </p:nvPicPr>
        <p:blipFill>
          <a:blip r:embed="rId5"/>
          <a:stretch>
            <a:fillRect/>
          </a:stretch>
        </p:blipFill>
        <p:spPr>
          <a:xfrm>
            <a:off x="180000" y="2880000"/>
            <a:ext cx="4390000" cy="1880000"/>
          </a:xfrm>
          <a:prstGeom prst="rect">
            <a:avLst/>
          </a:prstGeom>
          <a:effectLst>
            <a:outerShdw blurRad="76200" dist="25400" dir="5400000" algn="t" rotWithShape="0">
              <a:srgbClr val="000000">
                <a:alpha val="10000"/>
              </a:srgbClr>
            </a:outerShdw>
          </a:effectLst>
        </p:spPr>
      </p:pic>
      <p:sp>
        <p:nvSpPr>
          <p:cNvPr id="22" name="Label 22"/>
          <p:cNvSpPr/>
          <p:nvPr/>
        </p:nvSpPr>
        <p:spPr>
          <a:xfrm>
            <a:off x="180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Post Listing</a:t>
            </a:r>
          </a:p>
        </p:txBody>
      </p:sp>
      <p:pic>
        <p:nvPicPr>
          <p:cNvPr id="13" name="Diagram 13"/>
          <p:cNvPicPr>
            <a:picLocks noChangeAspect="1"/>
          </p:cNvPicPr>
          <p:nvPr/>
        </p:nvPicPr>
        <p:blipFill>
          <a:blip r:embed="rId6"/>
          <a:stretch>
            <a:fillRect/>
          </a:stretch>
        </p:blipFill>
        <p:spPr>
          <a:xfrm>
            <a:off x="4574000" y="2880000"/>
            <a:ext cx="4390000" cy="1880000"/>
          </a:xfrm>
          <a:prstGeom prst="rect">
            <a:avLst/>
          </a:prstGeom>
          <a:effectLst>
            <a:outerShdw blurRad="76200" dist="25400" dir="5400000" algn="t" rotWithShape="0">
              <a:srgbClr val="000000">
                <a:alpha val="10000"/>
              </a:srgbClr>
            </a:outerShdw>
          </a:effectLst>
        </p:spPr>
      </p:pic>
      <p:sp>
        <p:nvSpPr>
          <p:cNvPr id="23" name="Label 23"/>
          <p:cNvSpPr/>
          <p:nvPr/>
        </p:nvSpPr>
        <p:spPr>
          <a:xfrm>
            <a:off x="4574000" y="4780000"/>
            <a:ext cx="4390000" cy="220000"/>
          </a:xfrm>
          <a:prstGeom prst="rect">
            <a:avLst/>
          </a:prstGeom>
          <a:noFill/>
          <a:ln/>
        </p:spPr>
        <p:txBody>
          <a:bodyPr wrap="square" rtlCol="0" anchor="ctr"/>
          <a:lstStyle/>
          <a:p>
            <a:pPr marL="0" indent="0" algn="ctr">
              <a:buNone/>
            </a:pPr>
            <a:r>
              <a:rPr lang="en-US" sz="900" i="1" dirty="0">
                <a:solidFill>
                  <a:srgbClr val="6B7280"/>
                </a:solidFill>
              </a:rPr>
              <a:t>Sequence — Mark Sold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1246</Words>
  <Application>Microsoft Office PowerPoint</Application>
  <PresentationFormat>On-screen Show (16:9)</PresentationFormat>
  <Paragraphs>192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Buddy — CS 321 Final Demo</dc:title>
  <dc:subject>PptxGenJS Presentation</dc:subject>
  <dc:creator>PptxGenJS</dc:creator>
  <cp:lastModifiedBy>Yung Ace</cp:lastModifiedBy>
  <cp:revision>2</cp:revision>
  <dcterms:created xsi:type="dcterms:W3CDTF">2026-04-22T20:54:35Z</dcterms:created>
  <dcterms:modified xsi:type="dcterms:W3CDTF">2026-04-23T18:24:33Z</dcterms:modified>
</cp:coreProperties>
</file>